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59"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1" d="100"/>
          <a:sy n="41" d="100"/>
        </p:scale>
        <p:origin x="605"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03DE4-3E3D-78DB-FF08-DA97966124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297E57B-79F6-F553-5B7F-2469096AB9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502120-D126-65EA-B823-CF7ACD38A8B7}"/>
              </a:ext>
            </a:extLst>
          </p:cNvPr>
          <p:cNvSpPr>
            <a:spLocks noGrp="1"/>
          </p:cNvSpPr>
          <p:nvPr>
            <p:ph type="dt" sz="half" idx="10"/>
          </p:nvPr>
        </p:nvSpPr>
        <p:spPr/>
        <p:txBody>
          <a:bodyPr/>
          <a:lstStyle/>
          <a:p>
            <a:fld id="{A8798534-89AD-4DDD-B86D-4FAA9992B074}" type="datetimeFigureOut">
              <a:rPr lang="en-US" smtClean="0"/>
              <a:t>6/30/2026</a:t>
            </a:fld>
            <a:endParaRPr lang="en-US"/>
          </a:p>
        </p:txBody>
      </p:sp>
      <p:sp>
        <p:nvSpPr>
          <p:cNvPr id="5" name="Footer Placeholder 4">
            <a:extLst>
              <a:ext uri="{FF2B5EF4-FFF2-40B4-BE49-F238E27FC236}">
                <a16:creationId xmlns:a16="http://schemas.microsoft.com/office/drawing/2014/main" id="{6F5A4690-2FBA-A5C1-917B-572B97A7C3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4C2AFB-E6EA-AEDC-1150-AADE484A0741}"/>
              </a:ext>
            </a:extLst>
          </p:cNvPr>
          <p:cNvSpPr>
            <a:spLocks noGrp="1"/>
          </p:cNvSpPr>
          <p:nvPr>
            <p:ph type="sldNum" sz="quarter" idx="12"/>
          </p:nvPr>
        </p:nvSpPr>
        <p:spPr/>
        <p:txBody>
          <a:bodyPr/>
          <a:lstStyle/>
          <a:p>
            <a:fld id="{8FCB467B-F96F-4980-9235-B6252670BEBC}" type="slidenum">
              <a:rPr lang="en-US" smtClean="0"/>
              <a:t>‹#›</a:t>
            </a:fld>
            <a:endParaRPr lang="en-US"/>
          </a:p>
        </p:txBody>
      </p:sp>
    </p:spTree>
    <p:extLst>
      <p:ext uri="{BB962C8B-B14F-4D97-AF65-F5344CB8AC3E}">
        <p14:creationId xmlns:p14="http://schemas.microsoft.com/office/powerpoint/2010/main" val="1120438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A2F36-63C4-65F1-EF53-A42A0A5E54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3166AD-1B1E-C79A-2911-DE2861E03D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7AB524-8022-6F4A-2B3A-CE29F27D4336}"/>
              </a:ext>
            </a:extLst>
          </p:cNvPr>
          <p:cNvSpPr>
            <a:spLocks noGrp="1"/>
          </p:cNvSpPr>
          <p:nvPr>
            <p:ph type="dt" sz="half" idx="10"/>
          </p:nvPr>
        </p:nvSpPr>
        <p:spPr/>
        <p:txBody>
          <a:bodyPr/>
          <a:lstStyle/>
          <a:p>
            <a:fld id="{A8798534-89AD-4DDD-B86D-4FAA9992B074}" type="datetimeFigureOut">
              <a:rPr lang="en-US" smtClean="0"/>
              <a:t>6/30/2026</a:t>
            </a:fld>
            <a:endParaRPr lang="en-US"/>
          </a:p>
        </p:txBody>
      </p:sp>
      <p:sp>
        <p:nvSpPr>
          <p:cNvPr id="5" name="Footer Placeholder 4">
            <a:extLst>
              <a:ext uri="{FF2B5EF4-FFF2-40B4-BE49-F238E27FC236}">
                <a16:creationId xmlns:a16="http://schemas.microsoft.com/office/drawing/2014/main" id="{07967092-F65D-5210-82E7-D00459D99A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C9F777-55B2-0895-A759-86435F5642F7}"/>
              </a:ext>
            </a:extLst>
          </p:cNvPr>
          <p:cNvSpPr>
            <a:spLocks noGrp="1"/>
          </p:cNvSpPr>
          <p:nvPr>
            <p:ph type="sldNum" sz="quarter" idx="12"/>
          </p:nvPr>
        </p:nvSpPr>
        <p:spPr/>
        <p:txBody>
          <a:bodyPr/>
          <a:lstStyle/>
          <a:p>
            <a:fld id="{8FCB467B-F96F-4980-9235-B6252670BEBC}" type="slidenum">
              <a:rPr lang="en-US" smtClean="0"/>
              <a:t>‹#›</a:t>
            </a:fld>
            <a:endParaRPr lang="en-US"/>
          </a:p>
        </p:txBody>
      </p:sp>
    </p:spTree>
    <p:extLst>
      <p:ext uri="{BB962C8B-B14F-4D97-AF65-F5344CB8AC3E}">
        <p14:creationId xmlns:p14="http://schemas.microsoft.com/office/powerpoint/2010/main" val="2492520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3D3F0-DA2F-C0D0-7E03-FE56BD24C6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42B18A-6AE1-0C69-A09D-341BE5E99F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669D87-63DB-C971-386F-964942E301DB}"/>
              </a:ext>
            </a:extLst>
          </p:cNvPr>
          <p:cNvSpPr>
            <a:spLocks noGrp="1"/>
          </p:cNvSpPr>
          <p:nvPr>
            <p:ph type="dt" sz="half" idx="10"/>
          </p:nvPr>
        </p:nvSpPr>
        <p:spPr/>
        <p:txBody>
          <a:bodyPr/>
          <a:lstStyle/>
          <a:p>
            <a:fld id="{A8798534-89AD-4DDD-B86D-4FAA9992B074}" type="datetimeFigureOut">
              <a:rPr lang="en-US" smtClean="0"/>
              <a:t>6/30/2026</a:t>
            </a:fld>
            <a:endParaRPr lang="en-US"/>
          </a:p>
        </p:txBody>
      </p:sp>
      <p:sp>
        <p:nvSpPr>
          <p:cNvPr id="5" name="Footer Placeholder 4">
            <a:extLst>
              <a:ext uri="{FF2B5EF4-FFF2-40B4-BE49-F238E27FC236}">
                <a16:creationId xmlns:a16="http://schemas.microsoft.com/office/drawing/2014/main" id="{AC80B7D5-A720-6BD6-60EB-BB97F43EC5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10F71D-F0AF-50F0-341E-E7771C5D1EDD}"/>
              </a:ext>
            </a:extLst>
          </p:cNvPr>
          <p:cNvSpPr>
            <a:spLocks noGrp="1"/>
          </p:cNvSpPr>
          <p:nvPr>
            <p:ph type="sldNum" sz="quarter" idx="12"/>
          </p:nvPr>
        </p:nvSpPr>
        <p:spPr/>
        <p:txBody>
          <a:bodyPr/>
          <a:lstStyle/>
          <a:p>
            <a:fld id="{8FCB467B-F96F-4980-9235-B6252670BEBC}" type="slidenum">
              <a:rPr lang="en-US" smtClean="0"/>
              <a:t>‹#›</a:t>
            </a:fld>
            <a:endParaRPr lang="en-US"/>
          </a:p>
        </p:txBody>
      </p:sp>
    </p:spTree>
    <p:extLst>
      <p:ext uri="{BB962C8B-B14F-4D97-AF65-F5344CB8AC3E}">
        <p14:creationId xmlns:p14="http://schemas.microsoft.com/office/powerpoint/2010/main" val="3119060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0DEF9-A942-CEBD-6000-E054289460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4047D8-0C36-5676-89CD-B2F030F9FC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3EB441-CA54-8F8B-110E-2EE3715153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2219457-8BD5-737C-18A9-CB59D6815FD3}"/>
              </a:ext>
            </a:extLst>
          </p:cNvPr>
          <p:cNvSpPr>
            <a:spLocks noGrp="1"/>
          </p:cNvSpPr>
          <p:nvPr>
            <p:ph type="dt" sz="half" idx="10"/>
          </p:nvPr>
        </p:nvSpPr>
        <p:spPr/>
        <p:txBody>
          <a:bodyPr/>
          <a:lstStyle/>
          <a:p>
            <a:fld id="{A8798534-89AD-4DDD-B86D-4FAA9992B074}" type="datetimeFigureOut">
              <a:rPr lang="en-US" smtClean="0"/>
              <a:t>6/30/2026</a:t>
            </a:fld>
            <a:endParaRPr lang="en-US"/>
          </a:p>
        </p:txBody>
      </p:sp>
      <p:sp>
        <p:nvSpPr>
          <p:cNvPr id="6" name="Footer Placeholder 5">
            <a:extLst>
              <a:ext uri="{FF2B5EF4-FFF2-40B4-BE49-F238E27FC236}">
                <a16:creationId xmlns:a16="http://schemas.microsoft.com/office/drawing/2014/main" id="{2F8CC44B-45B4-7986-E90B-EBEDB20E74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8B60B1-7399-5B6B-9FB0-9DE16826BDFE}"/>
              </a:ext>
            </a:extLst>
          </p:cNvPr>
          <p:cNvSpPr>
            <a:spLocks noGrp="1"/>
          </p:cNvSpPr>
          <p:nvPr>
            <p:ph type="sldNum" sz="quarter" idx="12"/>
          </p:nvPr>
        </p:nvSpPr>
        <p:spPr/>
        <p:txBody>
          <a:bodyPr/>
          <a:lstStyle/>
          <a:p>
            <a:fld id="{8FCB467B-F96F-4980-9235-B6252670BEBC}" type="slidenum">
              <a:rPr lang="en-US" smtClean="0"/>
              <a:t>‹#›</a:t>
            </a:fld>
            <a:endParaRPr lang="en-US"/>
          </a:p>
        </p:txBody>
      </p:sp>
    </p:spTree>
    <p:extLst>
      <p:ext uri="{BB962C8B-B14F-4D97-AF65-F5344CB8AC3E}">
        <p14:creationId xmlns:p14="http://schemas.microsoft.com/office/powerpoint/2010/main" val="487904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A76F7-B808-D263-DF97-384A2B69E8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00867FB-7697-F31D-7865-BD22670C38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A56C98-16B0-7924-F312-036C80D2AB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D4587A-FDB1-FCB1-D03C-4990F2C499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73214D-B391-3569-3EEC-24866DDF61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9AA979-983F-415E-C28D-9E5DBCF9F90E}"/>
              </a:ext>
            </a:extLst>
          </p:cNvPr>
          <p:cNvSpPr>
            <a:spLocks noGrp="1"/>
          </p:cNvSpPr>
          <p:nvPr>
            <p:ph type="dt" sz="half" idx="10"/>
          </p:nvPr>
        </p:nvSpPr>
        <p:spPr/>
        <p:txBody>
          <a:bodyPr/>
          <a:lstStyle/>
          <a:p>
            <a:fld id="{A8798534-89AD-4DDD-B86D-4FAA9992B074}" type="datetimeFigureOut">
              <a:rPr lang="en-US" smtClean="0"/>
              <a:t>6/30/2026</a:t>
            </a:fld>
            <a:endParaRPr lang="en-US"/>
          </a:p>
        </p:txBody>
      </p:sp>
      <p:sp>
        <p:nvSpPr>
          <p:cNvPr id="8" name="Footer Placeholder 7">
            <a:extLst>
              <a:ext uri="{FF2B5EF4-FFF2-40B4-BE49-F238E27FC236}">
                <a16:creationId xmlns:a16="http://schemas.microsoft.com/office/drawing/2014/main" id="{21D8FE4E-6939-1D19-C186-AEAA47DF9A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706243-A283-D058-BA3C-AF839C24388D}"/>
              </a:ext>
            </a:extLst>
          </p:cNvPr>
          <p:cNvSpPr>
            <a:spLocks noGrp="1"/>
          </p:cNvSpPr>
          <p:nvPr>
            <p:ph type="sldNum" sz="quarter" idx="12"/>
          </p:nvPr>
        </p:nvSpPr>
        <p:spPr/>
        <p:txBody>
          <a:bodyPr/>
          <a:lstStyle/>
          <a:p>
            <a:fld id="{8FCB467B-F96F-4980-9235-B6252670BEBC}" type="slidenum">
              <a:rPr lang="en-US" smtClean="0"/>
              <a:t>‹#›</a:t>
            </a:fld>
            <a:endParaRPr lang="en-US"/>
          </a:p>
        </p:txBody>
      </p:sp>
    </p:spTree>
    <p:extLst>
      <p:ext uri="{BB962C8B-B14F-4D97-AF65-F5344CB8AC3E}">
        <p14:creationId xmlns:p14="http://schemas.microsoft.com/office/powerpoint/2010/main" val="2331403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8B580-CC2F-7D0D-EB14-D5203BB6A0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8BC608-692C-4B0E-EB01-923ABE76BE28}"/>
              </a:ext>
            </a:extLst>
          </p:cNvPr>
          <p:cNvSpPr>
            <a:spLocks noGrp="1"/>
          </p:cNvSpPr>
          <p:nvPr>
            <p:ph type="dt" sz="half" idx="10"/>
          </p:nvPr>
        </p:nvSpPr>
        <p:spPr/>
        <p:txBody>
          <a:bodyPr/>
          <a:lstStyle/>
          <a:p>
            <a:fld id="{A8798534-89AD-4DDD-B86D-4FAA9992B074}" type="datetimeFigureOut">
              <a:rPr lang="en-US" smtClean="0"/>
              <a:t>6/30/2026</a:t>
            </a:fld>
            <a:endParaRPr lang="en-US"/>
          </a:p>
        </p:txBody>
      </p:sp>
      <p:sp>
        <p:nvSpPr>
          <p:cNvPr id="4" name="Footer Placeholder 3">
            <a:extLst>
              <a:ext uri="{FF2B5EF4-FFF2-40B4-BE49-F238E27FC236}">
                <a16:creationId xmlns:a16="http://schemas.microsoft.com/office/drawing/2014/main" id="{98B20777-8D5E-A621-BAF0-9FE487A840E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BFE6454-D312-0C9D-1F13-6E15D668F946}"/>
              </a:ext>
            </a:extLst>
          </p:cNvPr>
          <p:cNvSpPr>
            <a:spLocks noGrp="1"/>
          </p:cNvSpPr>
          <p:nvPr>
            <p:ph type="sldNum" sz="quarter" idx="12"/>
          </p:nvPr>
        </p:nvSpPr>
        <p:spPr/>
        <p:txBody>
          <a:bodyPr/>
          <a:lstStyle/>
          <a:p>
            <a:fld id="{8FCB467B-F96F-4980-9235-B6252670BEBC}" type="slidenum">
              <a:rPr lang="en-US" smtClean="0"/>
              <a:t>‹#›</a:t>
            </a:fld>
            <a:endParaRPr lang="en-US"/>
          </a:p>
        </p:txBody>
      </p:sp>
    </p:spTree>
    <p:extLst>
      <p:ext uri="{BB962C8B-B14F-4D97-AF65-F5344CB8AC3E}">
        <p14:creationId xmlns:p14="http://schemas.microsoft.com/office/powerpoint/2010/main" val="1309160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64D01E-9AE3-A786-D543-57FF284D0238}"/>
              </a:ext>
            </a:extLst>
          </p:cNvPr>
          <p:cNvSpPr>
            <a:spLocks noGrp="1"/>
          </p:cNvSpPr>
          <p:nvPr>
            <p:ph type="dt" sz="half" idx="10"/>
          </p:nvPr>
        </p:nvSpPr>
        <p:spPr/>
        <p:txBody>
          <a:bodyPr/>
          <a:lstStyle/>
          <a:p>
            <a:fld id="{A8798534-89AD-4DDD-B86D-4FAA9992B074}" type="datetimeFigureOut">
              <a:rPr lang="en-US" smtClean="0"/>
              <a:t>6/30/2026</a:t>
            </a:fld>
            <a:endParaRPr lang="en-US"/>
          </a:p>
        </p:txBody>
      </p:sp>
      <p:sp>
        <p:nvSpPr>
          <p:cNvPr id="3" name="Footer Placeholder 2">
            <a:extLst>
              <a:ext uri="{FF2B5EF4-FFF2-40B4-BE49-F238E27FC236}">
                <a16:creationId xmlns:a16="http://schemas.microsoft.com/office/drawing/2014/main" id="{FBEC7B8F-C71C-FF67-D5AD-1B164FDA91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F0C340-8F57-44E0-8D52-7FEEB86DA27D}"/>
              </a:ext>
            </a:extLst>
          </p:cNvPr>
          <p:cNvSpPr>
            <a:spLocks noGrp="1"/>
          </p:cNvSpPr>
          <p:nvPr>
            <p:ph type="sldNum" sz="quarter" idx="12"/>
          </p:nvPr>
        </p:nvSpPr>
        <p:spPr/>
        <p:txBody>
          <a:bodyPr/>
          <a:lstStyle/>
          <a:p>
            <a:fld id="{8FCB467B-F96F-4980-9235-B6252670BEBC}" type="slidenum">
              <a:rPr lang="en-US" smtClean="0"/>
              <a:t>‹#›</a:t>
            </a:fld>
            <a:endParaRPr lang="en-US"/>
          </a:p>
        </p:txBody>
      </p:sp>
    </p:spTree>
    <p:extLst>
      <p:ext uri="{BB962C8B-B14F-4D97-AF65-F5344CB8AC3E}">
        <p14:creationId xmlns:p14="http://schemas.microsoft.com/office/powerpoint/2010/main" val="1291298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F3F4A-4CF7-E198-429C-83BADBD80E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D682024-981E-94CD-D042-613825F647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DE2BD7-538F-C6AE-7790-93A1177778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D34943-98DE-59FF-C05D-EE80A4346801}"/>
              </a:ext>
            </a:extLst>
          </p:cNvPr>
          <p:cNvSpPr>
            <a:spLocks noGrp="1"/>
          </p:cNvSpPr>
          <p:nvPr>
            <p:ph type="dt" sz="half" idx="10"/>
          </p:nvPr>
        </p:nvSpPr>
        <p:spPr/>
        <p:txBody>
          <a:bodyPr/>
          <a:lstStyle/>
          <a:p>
            <a:fld id="{A8798534-89AD-4DDD-B86D-4FAA9992B074}" type="datetimeFigureOut">
              <a:rPr lang="en-US" smtClean="0"/>
              <a:t>6/30/2026</a:t>
            </a:fld>
            <a:endParaRPr lang="en-US"/>
          </a:p>
        </p:txBody>
      </p:sp>
      <p:sp>
        <p:nvSpPr>
          <p:cNvPr id="6" name="Footer Placeholder 5">
            <a:extLst>
              <a:ext uri="{FF2B5EF4-FFF2-40B4-BE49-F238E27FC236}">
                <a16:creationId xmlns:a16="http://schemas.microsoft.com/office/drawing/2014/main" id="{5B54BCCE-4EF1-781B-0773-46B9675415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4E4899-41F1-CED7-0D60-4A4FCBA4FADF}"/>
              </a:ext>
            </a:extLst>
          </p:cNvPr>
          <p:cNvSpPr>
            <a:spLocks noGrp="1"/>
          </p:cNvSpPr>
          <p:nvPr>
            <p:ph type="sldNum" sz="quarter" idx="12"/>
          </p:nvPr>
        </p:nvSpPr>
        <p:spPr/>
        <p:txBody>
          <a:bodyPr/>
          <a:lstStyle/>
          <a:p>
            <a:fld id="{8FCB467B-F96F-4980-9235-B6252670BEBC}" type="slidenum">
              <a:rPr lang="en-US" smtClean="0"/>
              <a:t>‹#›</a:t>
            </a:fld>
            <a:endParaRPr lang="en-US"/>
          </a:p>
        </p:txBody>
      </p:sp>
    </p:spTree>
    <p:extLst>
      <p:ext uri="{BB962C8B-B14F-4D97-AF65-F5344CB8AC3E}">
        <p14:creationId xmlns:p14="http://schemas.microsoft.com/office/powerpoint/2010/main" val="2071040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0FCE7-BEF7-E6F9-48E9-C57269FD2F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B851CB1-E026-0949-AA86-ED2EE9D371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8C5BA49-919B-3EC9-CCCF-04C4EDDB1D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D34D4D-C450-ACB7-E36B-162AB943E66F}"/>
              </a:ext>
            </a:extLst>
          </p:cNvPr>
          <p:cNvSpPr>
            <a:spLocks noGrp="1"/>
          </p:cNvSpPr>
          <p:nvPr>
            <p:ph type="dt" sz="half" idx="10"/>
          </p:nvPr>
        </p:nvSpPr>
        <p:spPr/>
        <p:txBody>
          <a:bodyPr/>
          <a:lstStyle/>
          <a:p>
            <a:fld id="{A8798534-89AD-4DDD-B86D-4FAA9992B074}" type="datetimeFigureOut">
              <a:rPr lang="en-US" smtClean="0"/>
              <a:t>6/30/2026</a:t>
            </a:fld>
            <a:endParaRPr lang="en-US"/>
          </a:p>
        </p:txBody>
      </p:sp>
      <p:sp>
        <p:nvSpPr>
          <p:cNvPr id="6" name="Footer Placeholder 5">
            <a:extLst>
              <a:ext uri="{FF2B5EF4-FFF2-40B4-BE49-F238E27FC236}">
                <a16:creationId xmlns:a16="http://schemas.microsoft.com/office/drawing/2014/main" id="{7D12DC58-7627-FA52-CC17-EA3473F3D8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65B71B-ABCD-D0B0-E081-F98B06FCE397}"/>
              </a:ext>
            </a:extLst>
          </p:cNvPr>
          <p:cNvSpPr>
            <a:spLocks noGrp="1"/>
          </p:cNvSpPr>
          <p:nvPr>
            <p:ph type="sldNum" sz="quarter" idx="12"/>
          </p:nvPr>
        </p:nvSpPr>
        <p:spPr/>
        <p:txBody>
          <a:bodyPr/>
          <a:lstStyle/>
          <a:p>
            <a:fld id="{8FCB467B-F96F-4980-9235-B6252670BEBC}" type="slidenum">
              <a:rPr lang="en-US" smtClean="0"/>
              <a:t>‹#›</a:t>
            </a:fld>
            <a:endParaRPr lang="en-US"/>
          </a:p>
        </p:txBody>
      </p:sp>
    </p:spTree>
    <p:extLst>
      <p:ext uri="{BB962C8B-B14F-4D97-AF65-F5344CB8AC3E}">
        <p14:creationId xmlns:p14="http://schemas.microsoft.com/office/powerpoint/2010/main" val="964561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679A0-8333-2588-591D-741280069B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1E2EC8-66A6-6421-7CA0-B6A2E26772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57EE93-B919-588E-46A0-B20C812EF030}"/>
              </a:ext>
            </a:extLst>
          </p:cNvPr>
          <p:cNvSpPr>
            <a:spLocks noGrp="1"/>
          </p:cNvSpPr>
          <p:nvPr>
            <p:ph type="dt" sz="half" idx="10"/>
          </p:nvPr>
        </p:nvSpPr>
        <p:spPr/>
        <p:txBody>
          <a:bodyPr/>
          <a:lstStyle/>
          <a:p>
            <a:fld id="{A8798534-89AD-4DDD-B86D-4FAA9992B074}" type="datetimeFigureOut">
              <a:rPr lang="en-US" smtClean="0"/>
              <a:t>6/30/2026</a:t>
            </a:fld>
            <a:endParaRPr lang="en-US"/>
          </a:p>
        </p:txBody>
      </p:sp>
      <p:sp>
        <p:nvSpPr>
          <p:cNvPr id="5" name="Footer Placeholder 4">
            <a:extLst>
              <a:ext uri="{FF2B5EF4-FFF2-40B4-BE49-F238E27FC236}">
                <a16:creationId xmlns:a16="http://schemas.microsoft.com/office/drawing/2014/main" id="{47E8BC39-DB62-FF88-B0E5-9D57A62D4F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946715-7059-B8C0-1F4F-CBFE10973021}"/>
              </a:ext>
            </a:extLst>
          </p:cNvPr>
          <p:cNvSpPr>
            <a:spLocks noGrp="1"/>
          </p:cNvSpPr>
          <p:nvPr>
            <p:ph type="sldNum" sz="quarter" idx="12"/>
          </p:nvPr>
        </p:nvSpPr>
        <p:spPr/>
        <p:txBody>
          <a:bodyPr/>
          <a:lstStyle/>
          <a:p>
            <a:fld id="{8FCB467B-F96F-4980-9235-B6252670BEBC}" type="slidenum">
              <a:rPr lang="en-US" smtClean="0"/>
              <a:t>‹#›</a:t>
            </a:fld>
            <a:endParaRPr lang="en-US"/>
          </a:p>
        </p:txBody>
      </p:sp>
    </p:spTree>
    <p:extLst>
      <p:ext uri="{BB962C8B-B14F-4D97-AF65-F5344CB8AC3E}">
        <p14:creationId xmlns:p14="http://schemas.microsoft.com/office/powerpoint/2010/main" val="4157293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EE0EAA-954F-4A90-A136-890EE79E508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596CEF-84BB-1B48-DFFB-163CAD6FA0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1BC032-1EC9-94F3-3840-967C578D87D6}"/>
              </a:ext>
            </a:extLst>
          </p:cNvPr>
          <p:cNvSpPr>
            <a:spLocks noGrp="1"/>
          </p:cNvSpPr>
          <p:nvPr>
            <p:ph type="dt" sz="half" idx="10"/>
          </p:nvPr>
        </p:nvSpPr>
        <p:spPr/>
        <p:txBody>
          <a:bodyPr/>
          <a:lstStyle/>
          <a:p>
            <a:fld id="{A8798534-89AD-4DDD-B86D-4FAA9992B074}" type="datetimeFigureOut">
              <a:rPr lang="en-US" smtClean="0"/>
              <a:t>6/30/2026</a:t>
            </a:fld>
            <a:endParaRPr lang="en-US"/>
          </a:p>
        </p:txBody>
      </p:sp>
      <p:sp>
        <p:nvSpPr>
          <p:cNvPr id="5" name="Footer Placeholder 4">
            <a:extLst>
              <a:ext uri="{FF2B5EF4-FFF2-40B4-BE49-F238E27FC236}">
                <a16:creationId xmlns:a16="http://schemas.microsoft.com/office/drawing/2014/main" id="{43E4EE34-24D7-C1C1-4667-C05BACDD89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DABFED-0EFC-DE2C-82A6-C5E7F4B379E8}"/>
              </a:ext>
            </a:extLst>
          </p:cNvPr>
          <p:cNvSpPr>
            <a:spLocks noGrp="1"/>
          </p:cNvSpPr>
          <p:nvPr>
            <p:ph type="sldNum" sz="quarter" idx="12"/>
          </p:nvPr>
        </p:nvSpPr>
        <p:spPr/>
        <p:txBody>
          <a:bodyPr/>
          <a:lstStyle/>
          <a:p>
            <a:fld id="{8FCB467B-F96F-4980-9235-B6252670BEBC}" type="slidenum">
              <a:rPr lang="en-US" smtClean="0"/>
              <a:t>‹#›</a:t>
            </a:fld>
            <a:endParaRPr lang="en-US"/>
          </a:p>
        </p:txBody>
      </p:sp>
    </p:spTree>
    <p:extLst>
      <p:ext uri="{BB962C8B-B14F-4D97-AF65-F5344CB8AC3E}">
        <p14:creationId xmlns:p14="http://schemas.microsoft.com/office/powerpoint/2010/main" val="2662286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C000"/>
            </a:gs>
            <a:gs pos="0">
              <a:srgbClr val="FFFF00"/>
            </a:gs>
            <a:gs pos="100000">
              <a:srgbClr val="FFC000"/>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34D077-B92C-6FFC-5FA8-2D3026B99C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03E8C66-C636-6414-3810-2E6FC8F6CC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5500A-5829-6C13-12FF-C72F30B8EC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798534-89AD-4DDD-B86D-4FAA9992B074}" type="datetimeFigureOut">
              <a:rPr lang="en-US" smtClean="0"/>
              <a:t>6/30/2026</a:t>
            </a:fld>
            <a:endParaRPr lang="en-US"/>
          </a:p>
        </p:txBody>
      </p:sp>
      <p:sp>
        <p:nvSpPr>
          <p:cNvPr id="5" name="Footer Placeholder 4">
            <a:extLst>
              <a:ext uri="{FF2B5EF4-FFF2-40B4-BE49-F238E27FC236}">
                <a16:creationId xmlns:a16="http://schemas.microsoft.com/office/drawing/2014/main" id="{BC6B57A9-AD68-95FF-84B6-56CB675F43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6165DB4-A3B5-E2DC-E10C-8C9B2E52FC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CB467B-F96F-4980-9235-B6252670BEBC}" type="slidenum">
              <a:rPr lang="en-US" smtClean="0"/>
              <a:t>‹#›</a:t>
            </a:fld>
            <a:endParaRPr lang="en-US"/>
          </a:p>
        </p:txBody>
      </p:sp>
    </p:spTree>
    <p:extLst>
      <p:ext uri="{BB962C8B-B14F-4D97-AF65-F5344CB8AC3E}">
        <p14:creationId xmlns:p14="http://schemas.microsoft.com/office/powerpoint/2010/main" val="15092817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15FA00F9-825E-F07D-1C11-E7B74FBE303E}"/>
              </a:ext>
            </a:extLst>
          </p:cNvPr>
          <p:cNvSpPr txBox="1"/>
          <p:nvPr/>
        </p:nvSpPr>
        <p:spPr>
          <a:xfrm>
            <a:off x="736600" y="2806516"/>
            <a:ext cx="10905671" cy="769441"/>
          </a:xfrm>
          <a:prstGeom prst="rect">
            <a:avLst/>
          </a:prstGeom>
          <a:noFill/>
        </p:spPr>
        <p:txBody>
          <a:bodyPr wrap="square" rtlCol="0">
            <a:spAutoFit/>
          </a:bodyPr>
          <a:lstStyle/>
          <a:p>
            <a:r>
              <a:rPr lang="en-US" sz="4400" b="1" u="sng" dirty="0">
                <a:effectLst>
                  <a:outerShdw blurRad="38100" dist="38100" dir="2700000" algn="tl">
                    <a:srgbClr val="000000">
                      <a:alpha val="43137"/>
                    </a:srgbClr>
                  </a:outerShdw>
                </a:effectLst>
              </a:rPr>
              <a:t>INTRODUCTION TO SOFTWARE ENGINEERING</a:t>
            </a:r>
          </a:p>
        </p:txBody>
      </p:sp>
    </p:spTree>
    <p:extLst>
      <p:ext uri="{BB962C8B-B14F-4D97-AF65-F5344CB8AC3E}">
        <p14:creationId xmlns:p14="http://schemas.microsoft.com/office/powerpoint/2010/main" val="3814513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D8BBE-A5B2-0E4C-BFAD-0CA1D4FDA3A3}"/>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1082B14C-A94D-AF6D-ED0B-3FC590E0EC60}"/>
              </a:ext>
            </a:extLst>
          </p:cNvPr>
          <p:cNvSpPr txBox="1"/>
          <p:nvPr/>
        </p:nvSpPr>
        <p:spPr>
          <a:xfrm>
            <a:off x="484413" y="278368"/>
            <a:ext cx="2797629" cy="769441"/>
          </a:xfrm>
          <a:prstGeom prst="rect">
            <a:avLst/>
          </a:prstGeom>
          <a:noFill/>
        </p:spPr>
        <p:txBody>
          <a:bodyPr wrap="square" rtlCol="0">
            <a:spAutoFit/>
          </a:bodyPr>
          <a:lstStyle/>
          <a:p>
            <a:r>
              <a:rPr lang="en-US" sz="4400" b="1" dirty="0">
                <a:effectLst>
                  <a:outerShdw blurRad="38100" dist="38100" dir="2700000" algn="tl">
                    <a:srgbClr val="000000">
                      <a:alpha val="43137"/>
                    </a:srgbClr>
                  </a:outerShdw>
                </a:effectLst>
              </a:rPr>
              <a:t>GROUP 7</a:t>
            </a:r>
          </a:p>
        </p:txBody>
      </p:sp>
      <p:sp>
        <p:nvSpPr>
          <p:cNvPr id="4" name="TextBox 3">
            <a:extLst>
              <a:ext uri="{FF2B5EF4-FFF2-40B4-BE49-F238E27FC236}">
                <a16:creationId xmlns:a16="http://schemas.microsoft.com/office/drawing/2014/main" id="{8AC1F57D-7305-4C59-E339-BDFD48C72C92}"/>
              </a:ext>
            </a:extLst>
          </p:cNvPr>
          <p:cNvSpPr txBox="1"/>
          <p:nvPr/>
        </p:nvSpPr>
        <p:spPr>
          <a:xfrm>
            <a:off x="5003800" y="609600"/>
            <a:ext cx="4760686" cy="1077218"/>
          </a:xfrm>
          <a:prstGeom prst="rect">
            <a:avLst/>
          </a:prstGeom>
          <a:noFill/>
        </p:spPr>
        <p:txBody>
          <a:bodyPr wrap="square" rtlCol="0">
            <a:spAutoFit/>
          </a:bodyPr>
          <a:lstStyle/>
          <a:p>
            <a:pPr marL="285750" indent="-285750">
              <a:buFont typeface="Wingdings" panose="05000000000000000000" pitchFamily="2" charset="2"/>
              <a:buChar char="§"/>
            </a:pPr>
            <a:r>
              <a:rPr lang="en-US" sz="3200" b="1" dirty="0"/>
              <a:t>FRANKYLNA FATMATA NYLANDER  905006245</a:t>
            </a:r>
          </a:p>
        </p:txBody>
      </p:sp>
      <p:sp>
        <p:nvSpPr>
          <p:cNvPr id="2" name="TextBox 1">
            <a:extLst>
              <a:ext uri="{FF2B5EF4-FFF2-40B4-BE49-F238E27FC236}">
                <a16:creationId xmlns:a16="http://schemas.microsoft.com/office/drawing/2014/main" id="{E0FA0A10-AA8E-5E56-5440-22C59FA8FEE1}"/>
              </a:ext>
            </a:extLst>
          </p:cNvPr>
          <p:cNvSpPr txBox="1"/>
          <p:nvPr/>
        </p:nvSpPr>
        <p:spPr>
          <a:xfrm>
            <a:off x="4943929" y="2351782"/>
            <a:ext cx="4760686" cy="1077218"/>
          </a:xfrm>
          <a:prstGeom prst="rect">
            <a:avLst/>
          </a:prstGeom>
          <a:noFill/>
        </p:spPr>
        <p:txBody>
          <a:bodyPr wrap="square" rtlCol="0">
            <a:spAutoFit/>
          </a:bodyPr>
          <a:lstStyle/>
          <a:p>
            <a:pPr marL="285750" indent="-285750">
              <a:buFont typeface="Wingdings" panose="05000000000000000000" pitchFamily="2" charset="2"/>
              <a:buChar char="§"/>
            </a:pPr>
            <a:r>
              <a:rPr lang="en-US" sz="3200" b="1" dirty="0"/>
              <a:t>ELIZABETH ROSE COLLIER 905006415</a:t>
            </a:r>
          </a:p>
        </p:txBody>
      </p:sp>
      <p:sp>
        <p:nvSpPr>
          <p:cNvPr id="3" name="TextBox 2">
            <a:extLst>
              <a:ext uri="{FF2B5EF4-FFF2-40B4-BE49-F238E27FC236}">
                <a16:creationId xmlns:a16="http://schemas.microsoft.com/office/drawing/2014/main" id="{B56918D8-F033-A8FE-5FD5-DEF587390B29}"/>
              </a:ext>
            </a:extLst>
          </p:cNvPr>
          <p:cNvSpPr txBox="1"/>
          <p:nvPr/>
        </p:nvSpPr>
        <p:spPr>
          <a:xfrm>
            <a:off x="4943929" y="4061775"/>
            <a:ext cx="4760686" cy="1077218"/>
          </a:xfrm>
          <a:prstGeom prst="rect">
            <a:avLst/>
          </a:prstGeom>
          <a:noFill/>
        </p:spPr>
        <p:txBody>
          <a:bodyPr wrap="square" rtlCol="0">
            <a:spAutoFit/>
          </a:bodyPr>
          <a:lstStyle/>
          <a:p>
            <a:pPr marL="285750" indent="-285750">
              <a:buFont typeface="Wingdings" panose="05000000000000000000" pitchFamily="2" charset="2"/>
              <a:buChar char="§"/>
            </a:pPr>
            <a:r>
              <a:rPr lang="en-US" sz="3200" b="1" dirty="0"/>
              <a:t>GEORGE N’GOLOMUSA KARGBO    905006239</a:t>
            </a:r>
          </a:p>
        </p:txBody>
      </p:sp>
    </p:spTree>
    <p:extLst>
      <p:ext uri="{BB962C8B-B14F-4D97-AF65-F5344CB8AC3E}">
        <p14:creationId xmlns:p14="http://schemas.microsoft.com/office/powerpoint/2010/main" val="272380116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3EB3B-B2F7-7C58-9744-1E4F2B291D3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BE4BD28-E15B-0792-00F6-24FA0D7F200E}"/>
              </a:ext>
            </a:extLst>
          </p:cNvPr>
          <p:cNvSpPr txBox="1"/>
          <p:nvPr/>
        </p:nvSpPr>
        <p:spPr>
          <a:xfrm>
            <a:off x="2243295" y="2659559"/>
            <a:ext cx="8615204" cy="769441"/>
          </a:xfrm>
          <a:prstGeom prst="rect">
            <a:avLst/>
          </a:prstGeom>
          <a:noFill/>
        </p:spPr>
        <p:txBody>
          <a:bodyPr wrap="square" rtlCol="0">
            <a:spAutoFit/>
          </a:bodyPr>
          <a:lstStyle/>
          <a:p>
            <a:r>
              <a:rPr lang="en-US" sz="4400" b="1" u="sng" dirty="0">
                <a:effectLst>
                  <a:outerShdw blurRad="38100" dist="38100" dir="2700000" algn="tl">
                    <a:srgbClr val="000000">
                      <a:alpha val="43137"/>
                    </a:srgbClr>
                  </a:outerShdw>
                </a:effectLst>
              </a:rPr>
              <a:t>EDU CORE EDUCATIONAL SYSTEM</a:t>
            </a:r>
          </a:p>
        </p:txBody>
      </p:sp>
      <p:sp>
        <p:nvSpPr>
          <p:cNvPr id="2" name="Flowchart: Connector 1">
            <a:extLst>
              <a:ext uri="{FF2B5EF4-FFF2-40B4-BE49-F238E27FC236}">
                <a16:creationId xmlns:a16="http://schemas.microsoft.com/office/drawing/2014/main" id="{B090A4D8-38F4-4F05-026E-A11075BC9BE6}"/>
              </a:ext>
            </a:extLst>
          </p:cNvPr>
          <p:cNvSpPr/>
          <p:nvPr/>
        </p:nvSpPr>
        <p:spPr>
          <a:xfrm>
            <a:off x="-596900" y="-977900"/>
            <a:ext cx="1795167" cy="1955800"/>
          </a:xfrm>
          <a:prstGeom prst="flowChartConnector">
            <a:avLst/>
          </a:prstGeom>
          <a:solidFill>
            <a:schemeClr val="bg1">
              <a:lumMod val="50000"/>
            </a:schemeClr>
          </a:solidFill>
          <a:ln>
            <a:solidFill>
              <a:schemeClr val="tx1">
                <a:lumMod val="50000"/>
                <a:lumOff val="50000"/>
              </a:schemeClr>
            </a:solidFill>
          </a:ln>
          <a:effectLst>
            <a:reflection blurRad="6350" stA="50000" endA="300" endPos="90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Connector 6">
            <a:extLst>
              <a:ext uri="{FF2B5EF4-FFF2-40B4-BE49-F238E27FC236}">
                <a16:creationId xmlns:a16="http://schemas.microsoft.com/office/drawing/2014/main" id="{2A035E00-4793-39E2-EC5E-48C7CC700C75}"/>
              </a:ext>
            </a:extLst>
          </p:cNvPr>
          <p:cNvSpPr/>
          <p:nvPr/>
        </p:nvSpPr>
        <p:spPr>
          <a:xfrm>
            <a:off x="10545116" y="5422900"/>
            <a:ext cx="1795167" cy="1955800"/>
          </a:xfrm>
          <a:prstGeom prst="flowChartConnector">
            <a:avLst/>
          </a:prstGeom>
          <a:solidFill>
            <a:schemeClr val="bg1">
              <a:lumMod val="50000"/>
            </a:schemeClr>
          </a:solidFill>
          <a:ln>
            <a:solidFill>
              <a:schemeClr val="tx1">
                <a:lumMod val="50000"/>
                <a:lumOff val="50000"/>
              </a:schemeClr>
            </a:solidFill>
          </a:ln>
          <a:effectLst>
            <a:reflection blurRad="6350" stA="50000" endA="300" endPos="90000" dir="5400000" sy="-100000" algn="bl" rotWithShape="0"/>
          </a:effectLst>
          <a:scene3d>
            <a:camera prst="orthographicFront">
              <a:rot lat="21252508" lon="243361" rev="11100791"/>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3826736"/>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86BA1-0046-2183-31FB-89A238FECFB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D32A0B7-7761-366D-62C0-22C888481CDC}"/>
              </a:ext>
            </a:extLst>
          </p:cNvPr>
          <p:cNvSpPr txBox="1"/>
          <p:nvPr/>
        </p:nvSpPr>
        <p:spPr>
          <a:xfrm>
            <a:off x="277586" y="275771"/>
            <a:ext cx="3608614" cy="584775"/>
          </a:xfrm>
          <a:prstGeom prst="rect">
            <a:avLst/>
          </a:prstGeom>
          <a:noFill/>
        </p:spPr>
        <p:txBody>
          <a:bodyPr wrap="square" rtlCol="0">
            <a:spAutoFit/>
          </a:bodyPr>
          <a:lstStyle/>
          <a:p>
            <a:r>
              <a:rPr lang="en-US" sz="3200" b="1" u="sng" dirty="0">
                <a:effectLst>
                  <a:outerShdw blurRad="38100" dist="38100" dir="2700000" algn="tl">
                    <a:srgbClr val="000000">
                      <a:alpha val="43137"/>
                    </a:srgbClr>
                  </a:outerShdw>
                </a:effectLst>
              </a:rPr>
              <a:t>1.1 INTRODUCTION</a:t>
            </a:r>
            <a:endParaRPr lang="en-US" sz="3200" u="sng" dirty="0">
              <a:effectLst>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05C34033-F943-44D2-F444-10C0B6F58FBC}"/>
              </a:ext>
            </a:extLst>
          </p:cNvPr>
          <p:cNvSpPr txBox="1"/>
          <p:nvPr/>
        </p:nvSpPr>
        <p:spPr>
          <a:xfrm>
            <a:off x="277586" y="1045029"/>
            <a:ext cx="10842170" cy="3693319"/>
          </a:xfrm>
          <a:prstGeom prst="rect">
            <a:avLst/>
          </a:prstGeom>
          <a:noFill/>
        </p:spPr>
        <p:txBody>
          <a:bodyPr wrap="square" rtlCol="0">
            <a:spAutoFit/>
          </a:bodyPr>
          <a:lstStyle/>
          <a:p>
            <a:r>
              <a:rPr lang="en-US" b="1" dirty="0">
                <a:effectLst>
                  <a:outerShdw blurRad="38100" dist="38100" dir="2700000" algn="tl">
                    <a:srgbClr val="000000">
                      <a:alpha val="43137"/>
                    </a:srgbClr>
                  </a:outerShdw>
                </a:effectLst>
              </a:rPr>
              <a:t>The EDU Core Learning Platform is designed as an architectural expansion of the initial assignment concept, formalizing it into a fully functional Digital Public Good (DPG) system. </a:t>
            </a:r>
          </a:p>
          <a:p>
            <a:endParaRPr lang="en-US"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This system specifically targets the structural educational crises within Sierra Leone, aligning comprehensively with the United Nations Sustainable Development Goal 4 (SDG 4: Quality Education). </a:t>
            </a:r>
          </a:p>
          <a:p>
            <a:endParaRPr lang="en-US"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In Sierra Leone, educational access was dramatically expanded via the 2018 Free Quality School Education (FQSE) initiative. However, severe quality deficits remain: over 30% of primary school educators failed foundational literacy and numeracy assessments in 2021, rural-urban disparities dictate public examination success, and severe instructional infrastructure bottlenecks remain unaddressed. </a:t>
            </a:r>
          </a:p>
          <a:p>
            <a:endParaRPr lang="en-US"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By formulating an open-source, ultra-low-bandwidth, AI-personalized mobile and PC platform, EDU Core provides accessible, self-paced learning resources that seamlessly cross-cut socio-economic divides.</a:t>
            </a:r>
          </a:p>
        </p:txBody>
      </p:sp>
    </p:spTree>
    <p:extLst>
      <p:ext uri="{BB962C8B-B14F-4D97-AF65-F5344CB8AC3E}">
        <p14:creationId xmlns:p14="http://schemas.microsoft.com/office/powerpoint/2010/main" val="1723423295"/>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0DAD3-38D2-D682-BF7C-024C6D3F86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F64053A-A0BD-D09B-30FB-2659E67F745D}"/>
              </a:ext>
            </a:extLst>
          </p:cNvPr>
          <p:cNvSpPr txBox="1"/>
          <p:nvPr/>
        </p:nvSpPr>
        <p:spPr>
          <a:xfrm>
            <a:off x="292100" y="179614"/>
            <a:ext cx="11607800" cy="5078313"/>
          </a:xfrm>
          <a:prstGeom prst="rect">
            <a:avLst/>
          </a:prstGeom>
          <a:noFill/>
        </p:spPr>
        <p:txBody>
          <a:bodyPr wrap="square" rtlCol="0">
            <a:spAutoFit/>
          </a:bodyPr>
          <a:lstStyle/>
          <a:p>
            <a:r>
              <a:rPr lang="en-US" u="sng" dirty="0">
                <a:effectLst>
                  <a:outerShdw blurRad="38100" dist="38100" dir="2700000" algn="tl">
                    <a:srgbClr val="000000">
                      <a:alpha val="43137"/>
                    </a:srgbClr>
                  </a:outerShdw>
                </a:effectLst>
              </a:rPr>
              <a:t>2.1 LIFE CYCLE CHOOSEN</a:t>
            </a:r>
          </a:p>
          <a:p>
            <a:endParaRPr lang="en-US" dirty="0">
              <a:effectLst>
                <a:outerShdw blurRad="38100" dist="38100" dir="2700000" algn="tl">
                  <a:srgbClr val="000000">
                    <a:alpha val="43137"/>
                  </a:srgbClr>
                </a:outerShdw>
              </a:effectLst>
            </a:endParaRPr>
          </a:p>
          <a:p>
            <a:r>
              <a:rPr lang="en-US" sz="2400" dirty="0">
                <a:effectLst>
                  <a:outerShdw blurRad="38100" dist="38100" dir="2700000" algn="tl">
                    <a:srgbClr val="000000">
                      <a:alpha val="43137"/>
                    </a:srgbClr>
                  </a:outerShdw>
                </a:effectLst>
              </a:rPr>
              <a:t>Why Agile Scrum Was Chosen</a:t>
            </a:r>
          </a:p>
          <a:p>
            <a:r>
              <a:rPr lang="en-US" sz="2400" dirty="0">
                <a:effectLst>
                  <a:outerShdw blurRad="38100" dist="38100" dir="2700000" algn="tl">
                    <a:srgbClr val="000000">
                      <a:alpha val="43137"/>
                    </a:srgbClr>
                  </a:outerShdw>
                </a:effectLst>
              </a:rPr>
              <a:t>The decision to use Agile Scrum over a traditional, linear model (like Waterfall) is driven entirely by the challenging environment in which EDU Core operates.</a:t>
            </a:r>
          </a:p>
          <a:p>
            <a:pPr marL="285750" indent="-285750">
              <a:buFont typeface="Arial" panose="020B0604020202020204" pitchFamily="34" charset="0"/>
              <a:buChar char="•"/>
            </a:pPr>
            <a:r>
              <a:rPr lang="en-US" sz="2400" dirty="0">
                <a:effectLst>
                  <a:outerShdw blurRad="38100" dist="38100" dir="2700000" algn="tl">
                    <a:srgbClr val="000000">
                      <a:alpha val="43137"/>
                    </a:srgbClr>
                  </a:outerShdw>
                </a:effectLst>
              </a:rPr>
              <a:t>Mitigation of Infrastructure Risks: In Sierra Leone, developers must contend with erratic power grids and intermittent edge networks. A linear model assumes requirements and environments remain stable. Agile allows the team to pivot immediately if a deployment strategy fails due to local network drops.</a:t>
            </a:r>
          </a:p>
          <a:p>
            <a:pPr marL="285750" indent="-285750">
              <a:buFont typeface="Arial" panose="020B0604020202020204" pitchFamily="34" charset="0"/>
              <a:buChar char="•"/>
            </a:pPr>
            <a:r>
              <a:rPr lang="en-US" sz="2400" dirty="0">
                <a:effectLst>
                  <a:outerShdw blurRad="38100" dist="38100" dir="2700000" algn="tl">
                    <a:srgbClr val="000000">
                      <a:alpha val="43137"/>
                    </a:srgbClr>
                  </a:outerShdw>
                </a:effectLst>
              </a:rPr>
              <a:t>Rapid Feedback Loops in Real-World Conditions: Because over 30% of primary educators face foundational literacy gaps, the user experience (UX) must be heavily tailored. </a:t>
            </a:r>
            <a:r>
              <a:rPr lang="en-US" sz="2400" dirty="0" err="1">
                <a:effectLst>
                  <a:outerShdw blurRad="38100" dist="38100" dir="2700000" algn="tl">
                    <a:srgbClr val="000000">
                      <a:alpha val="43137"/>
                    </a:srgbClr>
                  </a:outerShdw>
                </a:effectLst>
              </a:rPr>
              <a:t>Agile’s</a:t>
            </a:r>
            <a:r>
              <a:rPr lang="en-US" sz="2400" dirty="0">
                <a:effectLst>
                  <a:outerShdw blurRad="38100" dist="38100" dir="2700000" algn="tl">
                    <a:srgbClr val="000000">
                      <a:alpha val="43137"/>
                    </a:srgbClr>
                  </a:outerShdw>
                </a:effectLst>
              </a:rPr>
              <a:t> short development cycles (Sprints) mean actual teachers and students in target demographics can test features early and often. Their feedback directly shapes the next version.</a:t>
            </a:r>
          </a:p>
        </p:txBody>
      </p:sp>
    </p:spTree>
    <p:extLst>
      <p:ext uri="{BB962C8B-B14F-4D97-AF65-F5344CB8AC3E}">
        <p14:creationId xmlns:p14="http://schemas.microsoft.com/office/powerpoint/2010/main" val="70665654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82AC2-113F-200E-D8CE-2EED9D8B3F2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E2E5470-DC38-8889-CA45-8A3BC5D631AF}"/>
              </a:ext>
            </a:extLst>
          </p:cNvPr>
          <p:cNvGrpSpPr/>
          <p:nvPr/>
        </p:nvGrpSpPr>
        <p:grpSpPr>
          <a:xfrm>
            <a:off x="-2337318" y="-300911"/>
            <a:ext cx="2710542" cy="7003896"/>
            <a:chOff x="373224" y="-317240"/>
            <a:chExt cx="2710542" cy="7003896"/>
          </a:xfrm>
        </p:grpSpPr>
        <p:sp>
          <p:nvSpPr>
            <p:cNvPr id="4" name="Rectangle 3">
              <a:extLst>
                <a:ext uri="{FF2B5EF4-FFF2-40B4-BE49-F238E27FC236}">
                  <a16:creationId xmlns:a16="http://schemas.microsoft.com/office/drawing/2014/main" id="{1844D279-2681-C6BC-17F6-7F9C1C31B6E9}"/>
                </a:ext>
              </a:extLst>
            </p:cNvPr>
            <p:cNvSpPr/>
            <p:nvPr/>
          </p:nvSpPr>
          <p:spPr>
            <a:xfrm>
              <a:off x="373224" y="-317240"/>
              <a:ext cx="2710542" cy="6858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endParaRPr>
            </a:p>
          </p:txBody>
        </p:sp>
        <p:sp>
          <p:nvSpPr>
            <p:cNvPr id="3" name="TextBox 2">
              <a:extLst>
                <a:ext uri="{FF2B5EF4-FFF2-40B4-BE49-F238E27FC236}">
                  <a16:creationId xmlns:a16="http://schemas.microsoft.com/office/drawing/2014/main" id="{6299C0B9-86C8-8B08-B9AC-0650B37852F8}"/>
                </a:ext>
              </a:extLst>
            </p:cNvPr>
            <p:cNvSpPr txBox="1"/>
            <p:nvPr/>
          </p:nvSpPr>
          <p:spPr>
            <a:xfrm>
              <a:off x="579146" y="-53651"/>
              <a:ext cx="2298698" cy="6740307"/>
            </a:xfrm>
            <a:prstGeom prst="rect">
              <a:avLst/>
            </a:prstGeom>
            <a:noFill/>
          </p:spPr>
          <p:txBody>
            <a:bodyPr wrap="square" rtlCol="0">
              <a:spAutoFit/>
            </a:bodyPr>
            <a:lstStyle/>
            <a:p>
              <a:r>
                <a:rPr lang="en-US" dirty="0"/>
                <a:t> </a:t>
              </a:r>
              <a:r>
                <a:rPr lang="en-US" b="1" dirty="0"/>
                <a:t>2.2 PHASE BY PHASE EXECUTION</a:t>
              </a:r>
              <a:endParaRPr lang="en-US" dirty="0"/>
            </a:p>
            <a:p>
              <a:pPr lvl="0"/>
              <a:r>
                <a:rPr lang="en-US" b="1" dirty="0"/>
                <a:t>Phase 1:</a:t>
              </a:r>
              <a:r>
                <a:rPr lang="en-US" dirty="0"/>
                <a:t> Requirement Engineering &amp; Analysis Functional constraints are gathered directly from local educational institutions, teachers, parents, and rural students. Key technical requirements established include cross-platform database replication, zero-data SMS notification protocols, and localized AI optimization algorithms. Artifacts generated include a prioritized Product Backlog. </a:t>
              </a:r>
            </a:p>
            <a:p>
              <a:pPr lvl="0"/>
              <a:r>
                <a:rPr lang="en-US" dirty="0"/>
                <a:t>.</a:t>
              </a:r>
              <a:endParaRPr lang="en-US" sz="2800" b="1" dirty="0">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23185476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E2012-B964-36F2-D1BF-86969697FA2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E87AA27-7318-442B-EED7-F5896A705307}"/>
              </a:ext>
            </a:extLst>
          </p:cNvPr>
          <p:cNvGrpSpPr/>
          <p:nvPr/>
        </p:nvGrpSpPr>
        <p:grpSpPr>
          <a:xfrm>
            <a:off x="-2813503" y="-19050"/>
            <a:ext cx="2710542" cy="6858000"/>
            <a:chOff x="0" y="0"/>
            <a:chExt cx="2710542" cy="6858000"/>
          </a:xfrm>
        </p:grpSpPr>
        <p:sp>
          <p:nvSpPr>
            <p:cNvPr id="4" name="Rectangle 3">
              <a:extLst>
                <a:ext uri="{FF2B5EF4-FFF2-40B4-BE49-F238E27FC236}">
                  <a16:creationId xmlns:a16="http://schemas.microsoft.com/office/drawing/2014/main" id="{28338A78-E97A-AD3F-88E9-BB462B491C61}"/>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DD6E28A-4292-052C-283E-750E6B9F83CD}"/>
                </a:ext>
              </a:extLst>
            </p:cNvPr>
            <p:cNvSpPr txBox="1"/>
            <p:nvPr/>
          </p:nvSpPr>
          <p:spPr>
            <a:xfrm>
              <a:off x="205922" y="136743"/>
              <a:ext cx="2298698" cy="4801314"/>
            </a:xfrm>
            <a:prstGeom prst="rect">
              <a:avLst/>
            </a:prstGeom>
            <a:noFill/>
          </p:spPr>
          <p:txBody>
            <a:bodyPr wrap="square" rtlCol="0">
              <a:spAutoFit/>
            </a:bodyPr>
            <a:lstStyle/>
            <a:p>
              <a:r>
                <a:rPr lang="en-US" dirty="0"/>
                <a:t> </a:t>
              </a:r>
              <a:r>
                <a:rPr lang="en-US" b="1" dirty="0"/>
                <a:t>Phase 2:</a:t>
              </a:r>
              <a:r>
                <a:rPr lang="en-US" dirty="0"/>
                <a:t> Architectural &amp; System Design System boundaries are defined. Database models are normalized, and structural diagrams are authored. During this phase, the core synchronization protocol—enabling offline SQLite engines to sync with cloud Postgres instances—is modeled via class schemas and state charts.</a:t>
              </a:r>
              <a:endParaRPr lang="en-US" sz="2800" b="1" dirty="0">
                <a:effectLst>
                  <a:outerShdw blurRad="38100" dist="38100" dir="2700000" algn="tl">
                    <a:srgbClr val="000000">
                      <a:alpha val="43137"/>
                    </a:srgbClr>
                  </a:outerShdw>
                </a:effectLst>
              </a:endParaRPr>
            </a:p>
          </p:txBody>
        </p:sp>
      </p:grpSp>
      <p:grpSp>
        <p:nvGrpSpPr>
          <p:cNvPr id="5" name="Group 4">
            <a:extLst>
              <a:ext uri="{FF2B5EF4-FFF2-40B4-BE49-F238E27FC236}">
                <a16:creationId xmlns:a16="http://schemas.microsoft.com/office/drawing/2014/main" id="{220C91E5-BCD0-CDBD-112B-D87C4E3CF042}"/>
              </a:ext>
            </a:extLst>
          </p:cNvPr>
          <p:cNvGrpSpPr/>
          <p:nvPr/>
        </p:nvGrpSpPr>
        <p:grpSpPr>
          <a:xfrm>
            <a:off x="0" y="0"/>
            <a:ext cx="2710542" cy="6877050"/>
            <a:chOff x="0" y="0"/>
            <a:chExt cx="2710542" cy="6877050"/>
          </a:xfrm>
        </p:grpSpPr>
        <p:sp>
          <p:nvSpPr>
            <p:cNvPr id="6" name="Rectangle 5">
              <a:extLst>
                <a:ext uri="{FF2B5EF4-FFF2-40B4-BE49-F238E27FC236}">
                  <a16:creationId xmlns:a16="http://schemas.microsoft.com/office/drawing/2014/main" id="{ED1F9D81-6DF7-05B2-915F-F5B560CB5F15}"/>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2F9F3C1-4FAA-0B9E-8D28-803F6635D7B4}"/>
                </a:ext>
              </a:extLst>
            </p:cNvPr>
            <p:cNvSpPr txBox="1"/>
            <p:nvPr/>
          </p:nvSpPr>
          <p:spPr>
            <a:xfrm>
              <a:off x="205922" y="136743"/>
              <a:ext cx="2298698" cy="6740307"/>
            </a:xfrm>
            <a:prstGeom prst="rect">
              <a:avLst/>
            </a:prstGeom>
            <a:noFill/>
          </p:spPr>
          <p:txBody>
            <a:bodyPr wrap="square" rtlCol="0">
              <a:spAutoFit/>
            </a:bodyPr>
            <a:lstStyle/>
            <a:p>
              <a:r>
                <a:rPr lang="en-US" dirty="0"/>
                <a:t> </a:t>
              </a:r>
              <a:r>
                <a:rPr lang="en-US" b="1" dirty="0"/>
                <a:t>2.2 PHASE BY PHASE EXECUTION</a:t>
              </a:r>
              <a:endParaRPr lang="en-US" dirty="0"/>
            </a:p>
            <a:p>
              <a:pPr lvl="0"/>
              <a:r>
                <a:rPr lang="en-US" b="1" dirty="0"/>
                <a:t>Phase 1:</a:t>
              </a:r>
              <a:r>
                <a:rPr lang="en-US" dirty="0"/>
                <a:t> Requirement Engineering &amp; Analysis Functional constraints are gathered directly from local educational institutions, teachers, parents, and rural students. Key technical requirements established include cross-platform database replication, zero-data SMS notification protocols, and localized AI optimization algorithms. Artifacts generated include a prioritized Product Backlog. </a:t>
              </a:r>
            </a:p>
            <a:p>
              <a:pPr lvl="0"/>
              <a:r>
                <a:rPr lang="en-US" dirty="0"/>
                <a:t>.</a:t>
              </a:r>
              <a:endParaRPr lang="en-US" sz="2800" b="1" dirty="0">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31568795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505AD-376A-328C-7F54-67955DB57F3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A1EBB541-813F-0850-C618-88A64D6805C8}"/>
              </a:ext>
            </a:extLst>
          </p:cNvPr>
          <p:cNvGrpSpPr/>
          <p:nvPr/>
        </p:nvGrpSpPr>
        <p:grpSpPr>
          <a:xfrm>
            <a:off x="2916464" y="-19050"/>
            <a:ext cx="2710542" cy="6858000"/>
            <a:chOff x="0" y="0"/>
            <a:chExt cx="2710542" cy="6858000"/>
          </a:xfrm>
        </p:grpSpPr>
        <p:sp>
          <p:nvSpPr>
            <p:cNvPr id="4" name="Rectangle 3">
              <a:extLst>
                <a:ext uri="{FF2B5EF4-FFF2-40B4-BE49-F238E27FC236}">
                  <a16:creationId xmlns:a16="http://schemas.microsoft.com/office/drawing/2014/main" id="{B5586010-2C35-8ED9-F052-64C68B043F01}"/>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569CB0F-4A0D-370C-59E1-46221321819D}"/>
                </a:ext>
              </a:extLst>
            </p:cNvPr>
            <p:cNvSpPr txBox="1"/>
            <p:nvPr/>
          </p:nvSpPr>
          <p:spPr>
            <a:xfrm>
              <a:off x="205922" y="136743"/>
              <a:ext cx="2298698" cy="4801314"/>
            </a:xfrm>
            <a:prstGeom prst="rect">
              <a:avLst/>
            </a:prstGeom>
            <a:noFill/>
          </p:spPr>
          <p:txBody>
            <a:bodyPr wrap="square" rtlCol="0">
              <a:spAutoFit/>
            </a:bodyPr>
            <a:lstStyle/>
            <a:p>
              <a:r>
                <a:rPr lang="en-US" dirty="0"/>
                <a:t> </a:t>
              </a:r>
              <a:r>
                <a:rPr lang="en-US" b="1" dirty="0"/>
                <a:t>Phase 2:</a:t>
              </a:r>
              <a:r>
                <a:rPr lang="en-US" dirty="0"/>
                <a:t> Architectural &amp; System Design System boundaries are defined. Database models are normalized, and structural diagrams are authored. During this phase, the core synchronization protocol—enabling offline SQLite engines to sync with cloud Postgres instances—is modeled via class schemas and state charts.</a:t>
              </a:r>
              <a:endParaRPr lang="en-US" sz="2800" b="1" dirty="0">
                <a:effectLst>
                  <a:outerShdw blurRad="38100" dist="38100" dir="2700000" algn="tl">
                    <a:srgbClr val="000000">
                      <a:alpha val="43137"/>
                    </a:srgbClr>
                  </a:outerShdw>
                </a:effectLst>
              </a:endParaRPr>
            </a:p>
          </p:txBody>
        </p:sp>
      </p:grpSp>
      <p:grpSp>
        <p:nvGrpSpPr>
          <p:cNvPr id="5" name="Group 4">
            <a:extLst>
              <a:ext uri="{FF2B5EF4-FFF2-40B4-BE49-F238E27FC236}">
                <a16:creationId xmlns:a16="http://schemas.microsoft.com/office/drawing/2014/main" id="{EFCF1C7B-9451-32CC-6F7C-FD7D55C54AF5}"/>
              </a:ext>
            </a:extLst>
          </p:cNvPr>
          <p:cNvGrpSpPr/>
          <p:nvPr/>
        </p:nvGrpSpPr>
        <p:grpSpPr>
          <a:xfrm>
            <a:off x="0" y="0"/>
            <a:ext cx="2710542" cy="6877050"/>
            <a:chOff x="0" y="0"/>
            <a:chExt cx="2710542" cy="6877050"/>
          </a:xfrm>
        </p:grpSpPr>
        <p:sp>
          <p:nvSpPr>
            <p:cNvPr id="6" name="Rectangle 5">
              <a:extLst>
                <a:ext uri="{FF2B5EF4-FFF2-40B4-BE49-F238E27FC236}">
                  <a16:creationId xmlns:a16="http://schemas.microsoft.com/office/drawing/2014/main" id="{CEA6D503-5969-391C-C637-E8AC04F04C2B}"/>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9745D71-FD87-5F0A-4BB4-4F01E0FCD4B7}"/>
                </a:ext>
              </a:extLst>
            </p:cNvPr>
            <p:cNvSpPr txBox="1"/>
            <p:nvPr/>
          </p:nvSpPr>
          <p:spPr>
            <a:xfrm>
              <a:off x="205922" y="136743"/>
              <a:ext cx="2298698" cy="6740307"/>
            </a:xfrm>
            <a:prstGeom prst="rect">
              <a:avLst/>
            </a:prstGeom>
            <a:noFill/>
          </p:spPr>
          <p:txBody>
            <a:bodyPr wrap="square" rtlCol="0">
              <a:spAutoFit/>
            </a:bodyPr>
            <a:lstStyle/>
            <a:p>
              <a:r>
                <a:rPr lang="en-US" dirty="0"/>
                <a:t> </a:t>
              </a:r>
              <a:r>
                <a:rPr lang="en-US" b="1" dirty="0"/>
                <a:t>2.2 PHASE BY PHASE EXECUTION</a:t>
              </a:r>
              <a:endParaRPr lang="en-US" dirty="0"/>
            </a:p>
            <a:p>
              <a:pPr lvl="0"/>
              <a:r>
                <a:rPr lang="en-US" b="1" dirty="0"/>
                <a:t>Phase 1:</a:t>
              </a:r>
              <a:r>
                <a:rPr lang="en-US" dirty="0"/>
                <a:t> Requirement Engineering &amp; Analysis Functional constraints are gathered directly from local educational institutions, teachers, parents, and rural students. Key technical requirements established include cross-platform database replication, zero-data SMS notification protocols, and localized AI optimization algorithms. Artifacts generated include a prioritized Product Backlog. </a:t>
              </a:r>
            </a:p>
            <a:p>
              <a:pPr lvl="0"/>
              <a:r>
                <a:rPr lang="en-US" dirty="0"/>
                <a:t>.</a:t>
              </a:r>
              <a:endParaRPr lang="en-US" sz="2800" b="1" dirty="0">
                <a:effectLst>
                  <a:outerShdw blurRad="38100" dist="38100" dir="2700000" algn="tl">
                    <a:srgbClr val="000000">
                      <a:alpha val="43137"/>
                    </a:srgbClr>
                  </a:outerShdw>
                </a:effectLst>
              </a:endParaRPr>
            </a:p>
          </p:txBody>
        </p:sp>
      </p:grpSp>
      <p:grpSp>
        <p:nvGrpSpPr>
          <p:cNvPr id="11" name="Group 10">
            <a:extLst>
              <a:ext uri="{FF2B5EF4-FFF2-40B4-BE49-F238E27FC236}">
                <a16:creationId xmlns:a16="http://schemas.microsoft.com/office/drawing/2014/main" id="{1DFA6CE3-F265-5C97-A89A-FF7CB28E293C}"/>
              </a:ext>
            </a:extLst>
          </p:cNvPr>
          <p:cNvGrpSpPr/>
          <p:nvPr/>
        </p:nvGrpSpPr>
        <p:grpSpPr>
          <a:xfrm>
            <a:off x="-3255736" y="-19050"/>
            <a:ext cx="2710542" cy="6858000"/>
            <a:chOff x="0" y="0"/>
            <a:chExt cx="2710542" cy="6858000"/>
          </a:xfrm>
        </p:grpSpPr>
        <p:sp>
          <p:nvSpPr>
            <p:cNvPr id="12" name="Rectangle 11">
              <a:extLst>
                <a:ext uri="{FF2B5EF4-FFF2-40B4-BE49-F238E27FC236}">
                  <a16:creationId xmlns:a16="http://schemas.microsoft.com/office/drawing/2014/main" id="{5ADCD35A-EDF4-9895-292F-71342C775967}"/>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9A649E4-16FC-4B92-3363-D22600FE90E2}"/>
                </a:ext>
              </a:extLst>
            </p:cNvPr>
            <p:cNvSpPr txBox="1"/>
            <p:nvPr/>
          </p:nvSpPr>
          <p:spPr>
            <a:xfrm>
              <a:off x="205922" y="136743"/>
              <a:ext cx="2298698" cy="6063198"/>
            </a:xfrm>
            <a:prstGeom prst="rect">
              <a:avLst/>
            </a:prstGeom>
            <a:noFill/>
          </p:spPr>
          <p:txBody>
            <a:bodyPr wrap="square" rtlCol="0">
              <a:spAutoFit/>
            </a:bodyPr>
            <a:lstStyle/>
            <a:p>
              <a:r>
                <a:rPr lang="en-US" dirty="0"/>
                <a:t> </a:t>
              </a:r>
              <a:r>
                <a:rPr lang="en-US" b="1" dirty="0"/>
                <a:t>Phase 3:</a:t>
              </a:r>
              <a:r>
                <a:rPr lang="en-US" dirty="0"/>
                <a:t> Implementation &amp; Coding Development is run across 2-week sprints. Front-end layers are authored using decoupled components, local database managers are compiled via SQLite, and cloud integration microservices are written in high-throughput frameworks. Source control is strictly managed over Git with modular feature branching.</a:t>
              </a:r>
            </a:p>
            <a:p>
              <a:endParaRPr lang="en-US" sz="2800" b="1" dirty="0">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2101293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5BA4D-7E0B-1C90-8938-034C9002E437}"/>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D240814-A207-870B-DC9A-5C5ECE259ED0}"/>
              </a:ext>
            </a:extLst>
          </p:cNvPr>
          <p:cNvGrpSpPr/>
          <p:nvPr/>
        </p:nvGrpSpPr>
        <p:grpSpPr>
          <a:xfrm>
            <a:off x="2916464" y="-19050"/>
            <a:ext cx="2710542" cy="6858000"/>
            <a:chOff x="0" y="0"/>
            <a:chExt cx="2710542" cy="6858000"/>
          </a:xfrm>
        </p:grpSpPr>
        <p:sp>
          <p:nvSpPr>
            <p:cNvPr id="4" name="Rectangle 3">
              <a:extLst>
                <a:ext uri="{FF2B5EF4-FFF2-40B4-BE49-F238E27FC236}">
                  <a16:creationId xmlns:a16="http://schemas.microsoft.com/office/drawing/2014/main" id="{F9039094-B7CE-5A9A-B2B2-49DD9A42F2CE}"/>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4B84CD2-A621-6AC8-05F2-74765D28C86A}"/>
                </a:ext>
              </a:extLst>
            </p:cNvPr>
            <p:cNvSpPr txBox="1"/>
            <p:nvPr/>
          </p:nvSpPr>
          <p:spPr>
            <a:xfrm>
              <a:off x="205922" y="136743"/>
              <a:ext cx="2298698" cy="4801314"/>
            </a:xfrm>
            <a:prstGeom prst="rect">
              <a:avLst/>
            </a:prstGeom>
            <a:noFill/>
          </p:spPr>
          <p:txBody>
            <a:bodyPr wrap="square" rtlCol="0">
              <a:spAutoFit/>
            </a:bodyPr>
            <a:lstStyle/>
            <a:p>
              <a:r>
                <a:rPr lang="en-US" dirty="0"/>
                <a:t> </a:t>
              </a:r>
              <a:r>
                <a:rPr lang="en-US" b="1" dirty="0"/>
                <a:t>Phase 2:</a:t>
              </a:r>
              <a:r>
                <a:rPr lang="en-US" dirty="0"/>
                <a:t> Architectural &amp; System Design System boundaries are defined. Database models are normalized, and structural diagrams are authored. During this phase, the core synchronization protocol—enabling offline SQLite engines to sync with cloud Postgres instances—is modeled via class schemas and state charts.</a:t>
              </a:r>
              <a:endParaRPr lang="en-US" sz="2800" b="1" dirty="0">
                <a:effectLst>
                  <a:outerShdw blurRad="38100" dist="38100" dir="2700000" algn="tl">
                    <a:srgbClr val="000000">
                      <a:alpha val="43137"/>
                    </a:srgbClr>
                  </a:outerShdw>
                </a:effectLst>
              </a:endParaRPr>
            </a:p>
          </p:txBody>
        </p:sp>
      </p:grpSp>
      <p:grpSp>
        <p:nvGrpSpPr>
          <p:cNvPr id="5" name="Group 4">
            <a:extLst>
              <a:ext uri="{FF2B5EF4-FFF2-40B4-BE49-F238E27FC236}">
                <a16:creationId xmlns:a16="http://schemas.microsoft.com/office/drawing/2014/main" id="{70CBE464-9141-19DA-7E49-63237797EC80}"/>
              </a:ext>
            </a:extLst>
          </p:cNvPr>
          <p:cNvGrpSpPr/>
          <p:nvPr/>
        </p:nvGrpSpPr>
        <p:grpSpPr>
          <a:xfrm>
            <a:off x="0" y="0"/>
            <a:ext cx="2710542" cy="6877050"/>
            <a:chOff x="0" y="0"/>
            <a:chExt cx="2710542" cy="6877050"/>
          </a:xfrm>
        </p:grpSpPr>
        <p:sp>
          <p:nvSpPr>
            <p:cNvPr id="6" name="Rectangle 5">
              <a:extLst>
                <a:ext uri="{FF2B5EF4-FFF2-40B4-BE49-F238E27FC236}">
                  <a16:creationId xmlns:a16="http://schemas.microsoft.com/office/drawing/2014/main" id="{2188069E-CE1A-B872-0148-322E65459ABE}"/>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5926D38-BBC0-536F-B450-30563B6E49F9}"/>
                </a:ext>
              </a:extLst>
            </p:cNvPr>
            <p:cNvSpPr txBox="1"/>
            <p:nvPr/>
          </p:nvSpPr>
          <p:spPr>
            <a:xfrm>
              <a:off x="205922" y="136743"/>
              <a:ext cx="2298698" cy="6740307"/>
            </a:xfrm>
            <a:prstGeom prst="rect">
              <a:avLst/>
            </a:prstGeom>
            <a:noFill/>
          </p:spPr>
          <p:txBody>
            <a:bodyPr wrap="square" rtlCol="0">
              <a:spAutoFit/>
            </a:bodyPr>
            <a:lstStyle/>
            <a:p>
              <a:r>
                <a:rPr lang="en-US" dirty="0"/>
                <a:t> </a:t>
              </a:r>
              <a:r>
                <a:rPr lang="en-US" b="1" dirty="0"/>
                <a:t>2.2 PHASE BY PHASE EXECUTION</a:t>
              </a:r>
              <a:endParaRPr lang="en-US" dirty="0"/>
            </a:p>
            <a:p>
              <a:pPr lvl="0"/>
              <a:r>
                <a:rPr lang="en-US" b="1" dirty="0"/>
                <a:t>Phase 1:</a:t>
              </a:r>
              <a:r>
                <a:rPr lang="en-US" dirty="0"/>
                <a:t> Requirement Engineering &amp; Analysis Functional constraints are gathered directly from local educational institutions, teachers, parents, and rural students. Key technical requirements established include cross-platform database replication, zero-data SMS notification protocols, and localized AI optimization algorithms. Artifacts generated include a prioritized Product Backlog. </a:t>
              </a:r>
            </a:p>
            <a:p>
              <a:pPr lvl="0"/>
              <a:r>
                <a:rPr lang="en-US" dirty="0"/>
                <a:t>.</a:t>
              </a:r>
              <a:endParaRPr lang="en-US" sz="2800" b="1" dirty="0">
                <a:effectLst>
                  <a:outerShdw blurRad="38100" dist="38100" dir="2700000" algn="tl">
                    <a:srgbClr val="000000">
                      <a:alpha val="43137"/>
                    </a:srgbClr>
                  </a:outerShdw>
                </a:effectLst>
              </a:endParaRPr>
            </a:p>
          </p:txBody>
        </p:sp>
      </p:grpSp>
      <p:grpSp>
        <p:nvGrpSpPr>
          <p:cNvPr id="8" name="Group 7">
            <a:extLst>
              <a:ext uri="{FF2B5EF4-FFF2-40B4-BE49-F238E27FC236}">
                <a16:creationId xmlns:a16="http://schemas.microsoft.com/office/drawing/2014/main" id="{8E2D19D0-6B0F-2527-B7AC-C878C9713641}"/>
              </a:ext>
            </a:extLst>
          </p:cNvPr>
          <p:cNvGrpSpPr/>
          <p:nvPr/>
        </p:nvGrpSpPr>
        <p:grpSpPr>
          <a:xfrm>
            <a:off x="-2916464" y="-19050"/>
            <a:ext cx="2710542" cy="6858000"/>
            <a:chOff x="0" y="0"/>
            <a:chExt cx="2710542" cy="6858000"/>
          </a:xfrm>
        </p:grpSpPr>
        <p:sp>
          <p:nvSpPr>
            <p:cNvPr id="9" name="Rectangle 8">
              <a:extLst>
                <a:ext uri="{FF2B5EF4-FFF2-40B4-BE49-F238E27FC236}">
                  <a16:creationId xmlns:a16="http://schemas.microsoft.com/office/drawing/2014/main" id="{FFB58453-CC09-6D11-54BA-BA7837D0517C}"/>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4215A33-37BC-F2C9-732F-48DD4161C414}"/>
                </a:ext>
              </a:extLst>
            </p:cNvPr>
            <p:cNvSpPr txBox="1"/>
            <p:nvPr/>
          </p:nvSpPr>
          <p:spPr>
            <a:xfrm>
              <a:off x="205922" y="136743"/>
              <a:ext cx="2298698" cy="5355312"/>
            </a:xfrm>
            <a:prstGeom prst="rect">
              <a:avLst/>
            </a:prstGeom>
            <a:noFill/>
          </p:spPr>
          <p:txBody>
            <a:bodyPr wrap="square" rtlCol="0">
              <a:spAutoFit/>
            </a:bodyPr>
            <a:lstStyle/>
            <a:p>
              <a:pPr lvl="0"/>
              <a:r>
                <a:rPr lang="en-US" dirty="0"/>
                <a:t> </a:t>
              </a:r>
              <a:r>
                <a:rPr lang="en-US" b="1" dirty="0"/>
                <a:t>Phase 4:</a:t>
              </a:r>
              <a:r>
                <a:rPr lang="en-US" dirty="0"/>
                <a:t> Testing &amp; Integration The platform undergoes rigid testing matrix execution, spanning automated unit testing for AI models, end-to-end simulation of multi-user sync patterns, and validation of low-data offline states. Bandwidth throttling is systematically simulated down to 2G EDGE speeds to ensure synchronization consistency. </a:t>
              </a:r>
            </a:p>
          </p:txBody>
        </p:sp>
      </p:grpSp>
      <p:grpSp>
        <p:nvGrpSpPr>
          <p:cNvPr id="11" name="Group 10">
            <a:extLst>
              <a:ext uri="{FF2B5EF4-FFF2-40B4-BE49-F238E27FC236}">
                <a16:creationId xmlns:a16="http://schemas.microsoft.com/office/drawing/2014/main" id="{428C5DEB-35BF-88D8-A1FF-3194CC0CD326}"/>
              </a:ext>
            </a:extLst>
          </p:cNvPr>
          <p:cNvGrpSpPr/>
          <p:nvPr/>
        </p:nvGrpSpPr>
        <p:grpSpPr>
          <a:xfrm>
            <a:off x="5964464" y="-19050"/>
            <a:ext cx="2710542" cy="6858000"/>
            <a:chOff x="0" y="0"/>
            <a:chExt cx="2710542" cy="6858000"/>
          </a:xfrm>
        </p:grpSpPr>
        <p:sp>
          <p:nvSpPr>
            <p:cNvPr id="12" name="Rectangle 11">
              <a:extLst>
                <a:ext uri="{FF2B5EF4-FFF2-40B4-BE49-F238E27FC236}">
                  <a16:creationId xmlns:a16="http://schemas.microsoft.com/office/drawing/2014/main" id="{74F66030-E031-672F-FAD1-93BCC3441B9D}"/>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A1B4A0F-AC5C-A50A-3503-E05F1F7D685A}"/>
                </a:ext>
              </a:extLst>
            </p:cNvPr>
            <p:cNvSpPr txBox="1"/>
            <p:nvPr/>
          </p:nvSpPr>
          <p:spPr>
            <a:xfrm>
              <a:off x="205922" y="136743"/>
              <a:ext cx="2298698" cy="6063198"/>
            </a:xfrm>
            <a:prstGeom prst="rect">
              <a:avLst/>
            </a:prstGeom>
            <a:noFill/>
          </p:spPr>
          <p:txBody>
            <a:bodyPr wrap="square" rtlCol="0">
              <a:spAutoFit/>
            </a:bodyPr>
            <a:lstStyle/>
            <a:p>
              <a:r>
                <a:rPr lang="en-US" dirty="0"/>
                <a:t> </a:t>
              </a:r>
              <a:r>
                <a:rPr lang="en-US" b="1" dirty="0"/>
                <a:t>Phase 3:</a:t>
              </a:r>
              <a:r>
                <a:rPr lang="en-US" dirty="0"/>
                <a:t> Implementation &amp; Coding Development is run across 2-week sprints. Front-end layers are authored using decoupled components, local database managers are compiled via SQLite, and cloud integration microservices are written in high-throughput frameworks. Source control is strictly managed over Git with modular feature branching.</a:t>
              </a:r>
            </a:p>
            <a:p>
              <a:endParaRPr lang="en-US" sz="2800" b="1" dirty="0">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41988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58259-F2FF-690B-D78B-9A5A64B227EB}"/>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D027D591-651B-208B-BB6F-B8CD8EBBB106}"/>
              </a:ext>
            </a:extLst>
          </p:cNvPr>
          <p:cNvGrpSpPr/>
          <p:nvPr/>
        </p:nvGrpSpPr>
        <p:grpSpPr>
          <a:xfrm>
            <a:off x="2916464" y="-19050"/>
            <a:ext cx="2710542" cy="6858000"/>
            <a:chOff x="0" y="0"/>
            <a:chExt cx="2710542" cy="6858000"/>
          </a:xfrm>
        </p:grpSpPr>
        <p:sp>
          <p:nvSpPr>
            <p:cNvPr id="4" name="Rectangle 3">
              <a:extLst>
                <a:ext uri="{FF2B5EF4-FFF2-40B4-BE49-F238E27FC236}">
                  <a16:creationId xmlns:a16="http://schemas.microsoft.com/office/drawing/2014/main" id="{905BFCDF-EB57-F69C-C433-6543E870CE72}"/>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B89DFE5-F251-AE8E-1BBB-DE6100DE5835}"/>
                </a:ext>
              </a:extLst>
            </p:cNvPr>
            <p:cNvSpPr txBox="1"/>
            <p:nvPr/>
          </p:nvSpPr>
          <p:spPr>
            <a:xfrm>
              <a:off x="205922" y="136743"/>
              <a:ext cx="2298698" cy="4801314"/>
            </a:xfrm>
            <a:prstGeom prst="rect">
              <a:avLst/>
            </a:prstGeom>
            <a:noFill/>
          </p:spPr>
          <p:txBody>
            <a:bodyPr wrap="square" rtlCol="0">
              <a:spAutoFit/>
            </a:bodyPr>
            <a:lstStyle/>
            <a:p>
              <a:r>
                <a:rPr lang="en-US" dirty="0"/>
                <a:t> </a:t>
              </a:r>
              <a:r>
                <a:rPr lang="en-US" b="1" dirty="0"/>
                <a:t>Phase 2:</a:t>
              </a:r>
              <a:r>
                <a:rPr lang="en-US" dirty="0"/>
                <a:t> Architectural &amp; System Design System boundaries are defined. Database models are normalized, and structural diagrams are authored. During this phase, the core synchronization protocol—enabling offline SQLite engines to sync with cloud Postgres instances—is modeled via class schemas and state charts.</a:t>
              </a:r>
              <a:endParaRPr lang="en-US" sz="2800" b="1" dirty="0">
                <a:effectLst>
                  <a:outerShdw blurRad="38100" dist="38100" dir="2700000" algn="tl">
                    <a:srgbClr val="000000">
                      <a:alpha val="43137"/>
                    </a:srgbClr>
                  </a:outerShdw>
                </a:effectLst>
              </a:endParaRPr>
            </a:p>
          </p:txBody>
        </p:sp>
      </p:grpSp>
      <p:grpSp>
        <p:nvGrpSpPr>
          <p:cNvPr id="5" name="Group 4">
            <a:extLst>
              <a:ext uri="{FF2B5EF4-FFF2-40B4-BE49-F238E27FC236}">
                <a16:creationId xmlns:a16="http://schemas.microsoft.com/office/drawing/2014/main" id="{3D8A683E-051C-A5C2-56BC-62E84CEF8DDF}"/>
              </a:ext>
            </a:extLst>
          </p:cNvPr>
          <p:cNvGrpSpPr/>
          <p:nvPr/>
        </p:nvGrpSpPr>
        <p:grpSpPr>
          <a:xfrm>
            <a:off x="0" y="0"/>
            <a:ext cx="2710542" cy="6877050"/>
            <a:chOff x="0" y="0"/>
            <a:chExt cx="2710542" cy="6877050"/>
          </a:xfrm>
        </p:grpSpPr>
        <p:sp>
          <p:nvSpPr>
            <p:cNvPr id="6" name="Rectangle 5">
              <a:extLst>
                <a:ext uri="{FF2B5EF4-FFF2-40B4-BE49-F238E27FC236}">
                  <a16:creationId xmlns:a16="http://schemas.microsoft.com/office/drawing/2014/main" id="{069E2F9C-8AE3-F5E0-8BAD-F34A0F8DFDF5}"/>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415D1AF-1306-F17B-FC1C-CDF18982FFAE}"/>
                </a:ext>
              </a:extLst>
            </p:cNvPr>
            <p:cNvSpPr txBox="1"/>
            <p:nvPr/>
          </p:nvSpPr>
          <p:spPr>
            <a:xfrm>
              <a:off x="205922" y="136743"/>
              <a:ext cx="2298698" cy="6740307"/>
            </a:xfrm>
            <a:prstGeom prst="rect">
              <a:avLst/>
            </a:prstGeom>
            <a:noFill/>
          </p:spPr>
          <p:txBody>
            <a:bodyPr wrap="square" rtlCol="0">
              <a:spAutoFit/>
            </a:bodyPr>
            <a:lstStyle/>
            <a:p>
              <a:r>
                <a:rPr lang="en-US" dirty="0"/>
                <a:t> </a:t>
              </a:r>
              <a:r>
                <a:rPr lang="en-US" b="1" dirty="0"/>
                <a:t>2.2 PHASE BY PHASE EXECUTION</a:t>
              </a:r>
              <a:endParaRPr lang="en-US" dirty="0"/>
            </a:p>
            <a:p>
              <a:pPr lvl="0"/>
              <a:r>
                <a:rPr lang="en-US" b="1" dirty="0"/>
                <a:t>Phase 1:</a:t>
              </a:r>
              <a:r>
                <a:rPr lang="en-US" dirty="0"/>
                <a:t> Requirement Engineering &amp; Analysis Functional constraints are gathered directly from local educational institutions, teachers, parents, and rural students. Key technical requirements established include cross-platform database replication, zero-data SMS notification protocols, and localized AI optimization algorithms. Artifacts generated include a prioritized Product Backlog. </a:t>
              </a:r>
            </a:p>
            <a:p>
              <a:pPr lvl="0"/>
              <a:r>
                <a:rPr lang="en-US" dirty="0"/>
                <a:t>.</a:t>
              </a:r>
              <a:endParaRPr lang="en-US" sz="2800" b="1" dirty="0">
                <a:effectLst>
                  <a:outerShdw blurRad="38100" dist="38100" dir="2700000" algn="tl">
                    <a:srgbClr val="000000">
                      <a:alpha val="43137"/>
                    </a:srgbClr>
                  </a:outerShdw>
                </a:effectLst>
              </a:endParaRPr>
            </a:p>
          </p:txBody>
        </p:sp>
      </p:grpSp>
      <p:grpSp>
        <p:nvGrpSpPr>
          <p:cNvPr id="8" name="Group 7">
            <a:extLst>
              <a:ext uri="{FF2B5EF4-FFF2-40B4-BE49-F238E27FC236}">
                <a16:creationId xmlns:a16="http://schemas.microsoft.com/office/drawing/2014/main" id="{82EC2660-AFF9-A65B-728F-CBD213A36800}"/>
              </a:ext>
            </a:extLst>
          </p:cNvPr>
          <p:cNvGrpSpPr/>
          <p:nvPr/>
        </p:nvGrpSpPr>
        <p:grpSpPr>
          <a:xfrm>
            <a:off x="9088664" y="-19050"/>
            <a:ext cx="2710542" cy="6858000"/>
            <a:chOff x="0" y="0"/>
            <a:chExt cx="2710542" cy="6858000"/>
          </a:xfrm>
        </p:grpSpPr>
        <p:sp>
          <p:nvSpPr>
            <p:cNvPr id="9" name="Rectangle 8">
              <a:extLst>
                <a:ext uri="{FF2B5EF4-FFF2-40B4-BE49-F238E27FC236}">
                  <a16:creationId xmlns:a16="http://schemas.microsoft.com/office/drawing/2014/main" id="{AEAEBA0A-EBA3-A799-E24A-0B8BB0816C50}"/>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6CD18E7-AF65-9FFC-CCCB-716B167A2299}"/>
                </a:ext>
              </a:extLst>
            </p:cNvPr>
            <p:cNvSpPr txBox="1"/>
            <p:nvPr/>
          </p:nvSpPr>
          <p:spPr>
            <a:xfrm>
              <a:off x="205922" y="136743"/>
              <a:ext cx="2298698" cy="5355312"/>
            </a:xfrm>
            <a:prstGeom prst="rect">
              <a:avLst/>
            </a:prstGeom>
            <a:noFill/>
          </p:spPr>
          <p:txBody>
            <a:bodyPr wrap="square" rtlCol="0">
              <a:spAutoFit/>
            </a:bodyPr>
            <a:lstStyle/>
            <a:p>
              <a:pPr lvl="0"/>
              <a:r>
                <a:rPr lang="en-US" dirty="0"/>
                <a:t> </a:t>
              </a:r>
              <a:r>
                <a:rPr lang="en-US" b="1" dirty="0"/>
                <a:t>Phase 4:</a:t>
              </a:r>
              <a:r>
                <a:rPr lang="en-US" dirty="0"/>
                <a:t> Testing &amp; Integration The platform undergoes rigid testing matrix execution, spanning automated unit testing for AI models, end-to-end simulation of multi-user sync patterns, and validation of low-data offline states. Bandwidth throttling is systematically simulated down to 2G EDGE speeds to ensure synchronization consistency. </a:t>
              </a:r>
            </a:p>
          </p:txBody>
        </p:sp>
      </p:grpSp>
      <p:grpSp>
        <p:nvGrpSpPr>
          <p:cNvPr id="11" name="Group 10">
            <a:extLst>
              <a:ext uri="{FF2B5EF4-FFF2-40B4-BE49-F238E27FC236}">
                <a16:creationId xmlns:a16="http://schemas.microsoft.com/office/drawing/2014/main" id="{D284B69D-0A49-0DD7-EDB0-2ABEB1ED4565}"/>
              </a:ext>
            </a:extLst>
          </p:cNvPr>
          <p:cNvGrpSpPr/>
          <p:nvPr/>
        </p:nvGrpSpPr>
        <p:grpSpPr>
          <a:xfrm>
            <a:off x="5964464" y="-19050"/>
            <a:ext cx="2710542" cy="6858000"/>
            <a:chOff x="0" y="0"/>
            <a:chExt cx="2710542" cy="6858000"/>
          </a:xfrm>
        </p:grpSpPr>
        <p:sp>
          <p:nvSpPr>
            <p:cNvPr id="12" name="Rectangle 11">
              <a:extLst>
                <a:ext uri="{FF2B5EF4-FFF2-40B4-BE49-F238E27FC236}">
                  <a16:creationId xmlns:a16="http://schemas.microsoft.com/office/drawing/2014/main" id="{6A6E6205-B6C0-7000-990F-9E21FC36B100}"/>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1ABD7BE-4485-4680-562D-511AED69256B}"/>
                </a:ext>
              </a:extLst>
            </p:cNvPr>
            <p:cNvSpPr txBox="1"/>
            <p:nvPr/>
          </p:nvSpPr>
          <p:spPr>
            <a:xfrm>
              <a:off x="205922" y="136743"/>
              <a:ext cx="2298698" cy="6063198"/>
            </a:xfrm>
            <a:prstGeom prst="rect">
              <a:avLst/>
            </a:prstGeom>
            <a:noFill/>
          </p:spPr>
          <p:txBody>
            <a:bodyPr wrap="square" rtlCol="0">
              <a:spAutoFit/>
            </a:bodyPr>
            <a:lstStyle/>
            <a:p>
              <a:r>
                <a:rPr lang="en-US" dirty="0"/>
                <a:t> </a:t>
              </a:r>
              <a:r>
                <a:rPr lang="en-US" b="1" dirty="0"/>
                <a:t>Phase 3:</a:t>
              </a:r>
              <a:r>
                <a:rPr lang="en-US" dirty="0"/>
                <a:t> Implementation &amp; Coding Development is run across 2-week sprints. Front-end layers are authored using decoupled components, local database managers are compiled via SQLite, and cloud integration microservices are written in high-throughput frameworks. Source control is strictly managed over Git with modular feature branching.</a:t>
              </a:r>
            </a:p>
            <a:p>
              <a:endParaRPr lang="en-US" sz="2800" b="1" dirty="0">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42921006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11F94-54E1-A3CD-9AF0-4808E074CE60}"/>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613F2345-FDD1-90D7-140C-A47DDB49A804}"/>
              </a:ext>
            </a:extLst>
          </p:cNvPr>
          <p:cNvGrpSpPr/>
          <p:nvPr/>
        </p:nvGrpSpPr>
        <p:grpSpPr>
          <a:xfrm>
            <a:off x="-2710542" y="0"/>
            <a:ext cx="2710542" cy="6858000"/>
            <a:chOff x="0" y="0"/>
            <a:chExt cx="2710542" cy="6858000"/>
          </a:xfrm>
        </p:grpSpPr>
        <p:sp>
          <p:nvSpPr>
            <p:cNvPr id="6" name="Rectangle 5">
              <a:extLst>
                <a:ext uri="{FF2B5EF4-FFF2-40B4-BE49-F238E27FC236}">
                  <a16:creationId xmlns:a16="http://schemas.microsoft.com/office/drawing/2014/main" id="{FDDCC7A9-969E-FB4A-8110-975412D36EE6}"/>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521F555-FD52-2415-BD6E-E670A2BB1245}"/>
                </a:ext>
              </a:extLst>
            </p:cNvPr>
            <p:cNvSpPr txBox="1"/>
            <p:nvPr/>
          </p:nvSpPr>
          <p:spPr>
            <a:xfrm>
              <a:off x="205922" y="136743"/>
              <a:ext cx="2298698" cy="5078313"/>
            </a:xfrm>
            <a:prstGeom prst="rect">
              <a:avLst/>
            </a:prstGeom>
            <a:noFill/>
          </p:spPr>
          <p:txBody>
            <a:bodyPr wrap="square" rtlCol="0">
              <a:spAutoFit/>
            </a:bodyPr>
            <a:lstStyle/>
            <a:p>
              <a:pPr lvl="0"/>
              <a:r>
                <a:rPr lang="en-US" b="1" dirty="0"/>
                <a:t>Phase 5:</a:t>
              </a:r>
              <a:r>
                <a:rPr lang="en-US" dirty="0"/>
                <a:t> Deployment &amp; Operations The cloud infrastructure is provisioned inside fault-tolerant containers orchestrated via light clusters. Mobile clients are deployed across public open-source networks, and local offline deployment servers are provided to select pilot schools in rural districts lacking cellular infrastructure. </a:t>
              </a:r>
            </a:p>
            <a:p>
              <a:pPr lvl="0"/>
              <a:r>
                <a:rPr lang="en-US" dirty="0"/>
                <a:t>.</a:t>
              </a:r>
              <a:endParaRPr lang="en-US" sz="2800" b="1" dirty="0">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240812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FD96C-C4B3-3132-5884-3EF93313FA37}"/>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BEB90FAD-F2C9-2A47-516F-1960375373F1}"/>
              </a:ext>
            </a:extLst>
          </p:cNvPr>
          <p:cNvGrpSpPr/>
          <p:nvPr/>
        </p:nvGrpSpPr>
        <p:grpSpPr>
          <a:xfrm>
            <a:off x="4305300" y="0"/>
            <a:ext cx="2710542" cy="6858000"/>
            <a:chOff x="0" y="0"/>
            <a:chExt cx="2710542" cy="6858000"/>
          </a:xfrm>
        </p:grpSpPr>
        <p:sp>
          <p:nvSpPr>
            <p:cNvPr id="6" name="Rectangle 5">
              <a:extLst>
                <a:ext uri="{FF2B5EF4-FFF2-40B4-BE49-F238E27FC236}">
                  <a16:creationId xmlns:a16="http://schemas.microsoft.com/office/drawing/2014/main" id="{0D659B4B-90EF-4DE3-C724-99A21B70ED58}"/>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0602BAE-1DA8-30B0-C7A3-4D8E285AD309}"/>
                </a:ext>
              </a:extLst>
            </p:cNvPr>
            <p:cNvSpPr txBox="1"/>
            <p:nvPr/>
          </p:nvSpPr>
          <p:spPr>
            <a:xfrm>
              <a:off x="205922" y="136743"/>
              <a:ext cx="2298698" cy="5078313"/>
            </a:xfrm>
            <a:prstGeom prst="rect">
              <a:avLst/>
            </a:prstGeom>
            <a:noFill/>
          </p:spPr>
          <p:txBody>
            <a:bodyPr wrap="square" rtlCol="0">
              <a:spAutoFit/>
            </a:bodyPr>
            <a:lstStyle/>
            <a:p>
              <a:pPr lvl="0"/>
              <a:r>
                <a:rPr lang="en-US" b="1" dirty="0"/>
                <a:t>Phase 5:</a:t>
              </a:r>
              <a:r>
                <a:rPr lang="en-US" dirty="0"/>
                <a:t> Deployment &amp; Operations The cloud infrastructure is provisioned inside fault-tolerant containers orchestrated via light clusters. Mobile clients are deployed across public open-source networks, and local offline deployment servers are provided to select pilot schools in rural districts lacking cellular infrastructure. </a:t>
              </a:r>
            </a:p>
            <a:p>
              <a:pPr lvl="0"/>
              <a:r>
                <a:rPr lang="en-US" dirty="0"/>
                <a:t>.</a:t>
              </a:r>
              <a:endParaRPr lang="en-US" sz="2800" b="1" dirty="0">
                <a:effectLst>
                  <a:outerShdw blurRad="38100" dist="38100" dir="2700000" algn="tl">
                    <a:srgbClr val="000000">
                      <a:alpha val="43137"/>
                    </a:srgbClr>
                  </a:outerShdw>
                </a:effectLst>
              </a:endParaRPr>
            </a:p>
          </p:txBody>
        </p:sp>
      </p:grpSp>
      <p:grpSp>
        <p:nvGrpSpPr>
          <p:cNvPr id="2" name="Group 1">
            <a:extLst>
              <a:ext uri="{FF2B5EF4-FFF2-40B4-BE49-F238E27FC236}">
                <a16:creationId xmlns:a16="http://schemas.microsoft.com/office/drawing/2014/main" id="{A2362777-8283-5EB6-CD09-C56AF2AFB61F}"/>
              </a:ext>
            </a:extLst>
          </p:cNvPr>
          <p:cNvGrpSpPr/>
          <p:nvPr/>
        </p:nvGrpSpPr>
        <p:grpSpPr>
          <a:xfrm>
            <a:off x="-2857500" y="0"/>
            <a:ext cx="2710542" cy="6858000"/>
            <a:chOff x="0" y="0"/>
            <a:chExt cx="2710542" cy="6858000"/>
          </a:xfrm>
        </p:grpSpPr>
        <p:sp>
          <p:nvSpPr>
            <p:cNvPr id="3" name="Rectangle 2">
              <a:extLst>
                <a:ext uri="{FF2B5EF4-FFF2-40B4-BE49-F238E27FC236}">
                  <a16:creationId xmlns:a16="http://schemas.microsoft.com/office/drawing/2014/main" id="{10DCB8E9-0D2E-E121-CEA7-CEB3B0C7D7C9}"/>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AD31DC2-0333-F6E7-13B0-B149E23B2A6E}"/>
                </a:ext>
              </a:extLst>
            </p:cNvPr>
            <p:cNvSpPr txBox="1"/>
            <p:nvPr/>
          </p:nvSpPr>
          <p:spPr>
            <a:xfrm>
              <a:off x="205922" y="136743"/>
              <a:ext cx="2298698" cy="3970318"/>
            </a:xfrm>
            <a:prstGeom prst="rect">
              <a:avLst/>
            </a:prstGeom>
            <a:noFill/>
          </p:spPr>
          <p:txBody>
            <a:bodyPr wrap="square" rtlCol="0">
              <a:spAutoFit/>
            </a:bodyPr>
            <a:lstStyle/>
            <a:p>
              <a:pPr lvl="0"/>
              <a:r>
                <a:rPr lang="en-US" b="1" dirty="0"/>
                <a:t>Phase 6:</a:t>
              </a:r>
              <a:r>
                <a:rPr lang="en-US" dirty="0"/>
                <a:t> Maintenance &amp; Feedback Loop Production logs are ingested to monitor sync error frequencies, AI response latencies, and SMS delivery success indices. Updates are pushed downstream iteratively without interrupting local databases.</a:t>
              </a:r>
            </a:p>
          </p:txBody>
        </p:sp>
      </p:grpSp>
      <p:sp>
        <p:nvSpPr>
          <p:cNvPr id="10" name="TextBox 9">
            <a:extLst>
              <a:ext uri="{FF2B5EF4-FFF2-40B4-BE49-F238E27FC236}">
                <a16:creationId xmlns:a16="http://schemas.microsoft.com/office/drawing/2014/main" id="{1735CF5F-B288-984C-F9EB-92A5B585D0D4}"/>
              </a:ext>
            </a:extLst>
          </p:cNvPr>
          <p:cNvSpPr txBox="1"/>
          <p:nvPr/>
        </p:nvSpPr>
        <p:spPr>
          <a:xfrm>
            <a:off x="289378" y="2121902"/>
            <a:ext cx="3810000" cy="1446550"/>
          </a:xfrm>
          <a:prstGeom prst="rect">
            <a:avLst/>
          </a:prstGeom>
          <a:noFill/>
        </p:spPr>
        <p:txBody>
          <a:bodyPr wrap="square" rtlCol="0">
            <a:spAutoFit/>
          </a:bodyPr>
          <a:lstStyle/>
          <a:p>
            <a:r>
              <a:rPr lang="en-US" sz="4400" b="1" dirty="0">
                <a:effectLst>
                  <a:outerShdw blurRad="38100" dist="38100" dir="2700000" algn="tl">
                    <a:srgbClr val="000000">
                      <a:alpha val="43137"/>
                    </a:srgbClr>
                  </a:outerShdw>
                </a:effectLst>
              </a:rPr>
              <a:t>CONTINATION OF THE PHASES</a:t>
            </a:r>
          </a:p>
        </p:txBody>
      </p:sp>
    </p:spTree>
    <p:extLst>
      <p:ext uri="{BB962C8B-B14F-4D97-AF65-F5344CB8AC3E}">
        <p14:creationId xmlns:p14="http://schemas.microsoft.com/office/powerpoint/2010/main" val="20465146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169CF-534B-DC0C-EF0C-E4CC802E5587}"/>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4C48380B-5422-0E5D-CD74-D0B34AB5140D}"/>
              </a:ext>
            </a:extLst>
          </p:cNvPr>
          <p:cNvGrpSpPr/>
          <p:nvPr/>
        </p:nvGrpSpPr>
        <p:grpSpPr>
          <a:xfrm>
            <a:off x="6096000" y="0"/>
            <a:ext cx="2710542" cy="6858000"/>
            <a:chOff x="0" y="0"/>
            <a:chExt cx="2710542" cy="6858000"/>
          </a:xfrm>
        </p:grpSpPr>
        <p:sp>
          <p:nvSpPr>
            <p:cNvPr id="6" name="Rectangle 5">
              <a:extLst>
                <a:ext uri="{FF2B5EF4-FFF2-40B4-BE49-F238E27FC236}">
                  <a16:creationId xmlns:a16="http://schemas.microsoft.com/office/drawing/2014/main" id="{E067857D-96AD-A06E-5E63-8F389F8EC06E}"/>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C883E80-33F0-5ECA-4C44-8B49AFDC3222}"/>
                </a:ext>
              </a:extLst>
            </p:cNvPr>
            <p:cNvSpPr txBox="1"/>
            <p:nvPr/>
          </p:nvSpPr>
          <p:spPr>
            <a:xfrm>
              <a:off x="205922" y="136743"/>
              <a:ext cx="2298698" cy="5078313"/>
            </a:xfrm>
            <a:prstGeom prst="rect">
              <a:avLst/>
            </a:prstGeom>
            <a:noFill/>
          </p:spPr>
          <p:txBody>
            <a:bodyPr wrap="square" rtlCol="0">
              <a:spAutoFit/>
            </a:bodyPr>
            <a:lstStyle/>
            <a:p>
              <a:pPr lvl="0"/>
              <a:r>
                <a:rPr lang="en-US" b="1" dirty="0"/>
                <a:t>Phase 5:</a:t>
              </a:r>
              <a:r>
                <a:rPr lang="en-US" dirty="0"/>
                <a:t> Deployment &amp; Operations The cloud infrastructure is provisioned inside fault-tolerant containers orchestrated via light clusters. Mobile clients are deployed across public open-source networks, and local offline deployment servers are provided to select pilot schools in rural districts lacking cellular infrastructure. </a:t>
              </a:r>
            </a:p>
            <a:p>
              <a:pPr lvl="0"/>
              <a:r>
                <a:rPr lang="en-US" dirty="0"/>
                <a:t>.</a:t>
              </a:r>
              <a:endParaRPr lang="en-US" sz="2800" b="1" dirty="0">
                <a:effectLst>
                  <a:outerShdw blurRad="38100" dist="38100" dir="2700000" algn="tl">
                    <a:srgbClr val="000000">
                      <a:alpha val="43137"/>
                    </a:srgbClr>
                  </a:outerShdw>
                </a:effectLst>
              </a:endParaRPr>
            </a:p>
          </p:txBody>
        </p:sp>
      </p:grpSp>
      <p:grpSp>
        <p:nvGrpSpPr>
          <p:cNvPr id="2" name="Group 1">
            <a:extLst>
              <a:ext uri="{FF2B5EF4-FFF2-40B4-BE49-F238E27FC236}">
                <a16:creationId xmlns:a16="http://schemas.microsoft.com/office/drawing/2014/main" id="{D6535A24-F14F-95A8-8A2E-93AB845EAAB1}"/>
              </a:ext>
            </a:extLst>
          </p:cNvPr>
          <p:cNvGrpSpPr/>
          <p:nvPr/>
        </p:nvGrpSpPr>
        <p:grpSpPr>
          <a:xfrm>
            <a:off x="9481458" y="0"/>
            <a:ext cx="2710542" cy="6858000"/>
            <a:chOff x="0" y="0"/>
            <a:chExt cx="2710542" cy="6858000"/>
          </a:xfrm>
        </p:grpSpPr>
        <p:sp>
          <p:nvSpPr>
            <p:cNvPr id="3" name="Rectangle 2">
              <a:extLst>
                <a:ext uri="{FF2B5EF4-FFF2-40B4-BE49-F238E27FC236}">
                  <a16:creationId xmlns:a16="http://schemas.microsoft.com/office/drawing/2014/main" id="{12171BD1-0CC5-2904-52CC-F13CE763DF5A}"/>
                </a:ext>
              </a:extLst>
            </p:cNvPr>
            <p:cNvSpPr/>
            <p:nvPr/>
          </p:nvSpPr>
          <p:spPr>
            <a:xfrm>
              <a:off x="0" y="0"/>
              <a:ext cx="2710542" cy="6858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CE45247-1C15-04F4-727C-0BDEE3952A0D}"/>
                </a:ext>
              </a:extLst>
            </p:cNvPr>
            <p:cNvSpPr txBox="1"/>
            <p:nvPr/>
          </p:nvSpPr>
          <p:spPr>
            <a:xfrm>
              <a:off x="205922" y="136743"/>
              <a:ext cx="2298698" cy="3970318"/>
            </a:xfrm>
            <a:prstGeom prst="rect">
              <a:avLst/>
            </a:prstGeom>
            <a:noFill/>
          </p:spPr>
          <p:txBody>
            <a:bodyPr wrap="square" rtlCol="0">
              <a:spAutoFit/>
            </a:bodyPr>
            <a:lstStyle/>
            <a:p>
              <a:pPr lvl="0"/>
              <a:r>
                <a:rPr lang="en-US" b="1" dirty="0"/>
                <a:t>Phase 6:</a:t>
              </a:r>
              <a:r>
                <a:rPr lang="en-US" dirty="0"/>
                <a:t> Maintenance &amp; Feedback Loop Production logs are ingested to monitor sync error frequencies, AI response latencies, and SMS delivery success indices. Updates are pushed downstream iteratively without interrupting local databases.</a:t>
              </a:r>
            </a:p>
          </p:txBody>
        </p:sp>
      </p:grpSp>
      <p:sp>
        <p:nvSpPr>
          <p:cNvPr id="8" name="TextBox 7">
            <a:extLst>
              <a:ext uri="{FF2B5EF4-FFF2-40B4-BE49-F238E27FC236}">
                <a16:creationId xmlns:a16="http://schemas.microsoft.com/office/drawing/2014/main" id="{2D66FABF-AFB5-0B54-DFA5-5745EA4DFC16}"/>
              </a:ext>
            </a:extLst>
          </p:cNvPr>
          <p:cNvSpPr txBox="1"/>
          <p:nvPr/>
        </p:nvSpPr>
        <p:spPr>
          <a:xfrm>
            <a:off x="898978" y="2483852"/>
            <a:ext cx="3810000" cy="1446550"/>
          </a:xfrm>
          <a:prstGeom prst="rect">
            <a:avLst/>
          </a:prstGeom>
          <a:noFill/>
        </p:spPr>
        <p:txBody>
          <a:bodyPr wrap="square" rtlCol="0">
            <a:spAutoFit/>
          </a:bodyPr>
          <a:lstStyle/>
          <a:p>
            <a:r>
              <a:rPr lang="en-US" sz="4400" b="1" dirty="0">
                <a:effectLst>
                  <a:outerShdw blurRad="38100" dist="38100" dir="2700000" algn="tl">
                    <a:srgbClr val="000000">
                      <a:alpha val="43137"/>
                    </a:srgbClr>
                  </a:outerShdw>
                </a:effectLst>
              </a:rPr>
              <a:t>CONTINATION OF THE PHASES</a:t>
            </a:r>
          </a:p>
        </p:txBody>
      </p:sp>
    </p:spTree>
    <p:extLst>
      <p:ext uri="{BB962C8B-B14F-4D97-AF65-F5344CB8AC3E}">
        <p14:creationId xmlns:p14="http://schemas.microsoft.com/office/powerpoint/2010/main" val="30167845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F0EED-0ADC-7F07-65C2-95056D6BAA0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B5DDEBC-B44F-5930-77BB-621BF7824614}"/>
              </a:ext>
            </a:extLst>
          </p:cNvPr>
          <p:cNvSpPr txBox="1"/>
          <p:nvPr/>
        </p:nvSpPr>
        <p:spPr>
          <a:xfrm>
            <a:off x="611414" y="1055102"/>
            <a:ext cx="10969172" cy="1077218"/>
          </a:xfrm>
          <a:prstGeom prst="rect">
            <a:avLst/>
          </a:prstGeom>
          <a:noFill/>
        </p:spPr>
        <p:txBody>
          <a:bodyPr wrap="square" rtlCol="0">
            <a:spAutoFit/>
          </a:bodyPr>
          <a:lstStyle/>
          <a:p>
            <a:pPr marL="457200" indent="-457200">
              <a:buFont typeface="Arial" panose="020B0604020202020204" pitchFamily="34" charset="0"/>
              <a:buChar char="•"/>
            </a:pPr>
            <a:r>
              <a:rPr lang="en-US" sz="3200" b="1" dirty="0">
                <a:effectLst>
                  <a:outerShdw blurRad="38100" dist="38100" dir="2700000" algn="tl">
                    <a:srgbClr val="000000">
                      <a:alpha val="43137"/>
                    </a:srgbClr>
                  </a:outerShdw>
                </a:effectLst>
              </a:rPr>
              <a:t>The app is split into completely independent, specialized layers that talk to each other but operate separately.</a:t>
            </a:r>
          </a:p>
        </p:txBody>
      </p:sp>
      <p:sp>
        <p:nvSpPr>
          <p:cNvPr id="9" name="TextBox 8">
            <a:extLst>
              <a:ext uri="{FF2B5EF4-FFF2-40B4-BE49-F238E27FC236}">
                <a16:creationId xmlns:a16="http://schemas.microsoft.com/office/drawing/2014/main" id="{F6B97845-FC85-C84D-3FC7-F5A8F495B709}"/>
              </a:ext>
            </a:extLst>
          </p:cNvPr>
          <p:cNvSpPr txBox="1"/>
          <p:nvPr/>
        </p:nvSpPr>
        <p:spPr>
          <a:xfrm>
            <a:off x="382814" y="2411998"/>
            <a:ext cx="10969172" cy="1569660"/>
          </a:xfrm>
          <a:prstGeom prst="rect">
            <a:avLst/>
          </a:prstGeom>
          <a:noFill/>
        </p:spPr>
        <p:txBody>
          <a:bodyPr wrap="square" rtlCol="0">
            <a:spAutoFit/>
          </a:bodyPr>
          <a:lstStyle/>
          <a:p>
            <a:pPr marL="457200" indent="-457200">
              <a:buFont typeface="Arial" panose="020B0604020202020204" pitchFamily="34" charset="0"/>
              <a:buChar char="•"/>
            </a:pPr>
            <a:r>
              <a:rPr lang="en-US" sz="3200" b="1" dirty="0">
                <a:effectLst>
                  <a:outerShdw blurRad="38100" dist="38100" dir="2700000" algn="tl">
                    <a:srgbClr val="000000">
                      <a:alpha val="43137"/>
                    </a:srgbClr>
                  </a:outerShdw>
                </a:effectLst>
              </a:rPr>
              <a:t>The application is built under the assumption that there is no internet, treating connectivity as a luxury rather than a requirement.</a:t>
            </a:r>
          </a:p>
        </p:txBody>
      </p:sp>
      <p:sp>
        <p:nvSpPr>
          <p:cNvPr id="10" name="TextBox 9">
            <a:extLst>
              <a:ext uri="{FF2B5EF4-FFF2-40B4-BE49-F238E27FC236}">
                <a16:creationId xmlns:a16="http://schemas.microsoft.com/office/drawing/2014/main" id="{8AB3DE9B-9AEA-DCB2-6321-AA6D84E4E36B}"/>
              </a:ext>
            </a:extLst>
          </p:cNvPr>
          <p:cNvSpPr txBox="1"/>
          <p:nvPr/>
        </p:nvSpPr>
        <p:spPr>
          <a:xfrm>
            <a:off x="611414" y="3981658"/>
            <a:ext cx="10969172" cy="2677656"/>
          </a:xfrm>
          <a:prstGeom prst="rect">
            <a:avLst/>
          </a:prstGeom>
          <a:noFill/>
        </p:spPr>
        <p:txBody>
          <a:bodyPr wrap="square" rtlCol="0">
            <a:spAutoFit/>
          </a:bodyPr>
          <a:lstStyle/>
          <a:p>
            <a:pPr marL="342900" indent="-342900">
              <a:buFont typeface="Arial" panose="020B0604020202020204" pitchFamily="34" charset="0"/>
              <a:buChar char="•"/>
            </a:pPr>
            <a:r>
              <a:rPr lang="en-US" sz="2400" b="1" dirty="0">
                <a:effectLst>
                  <a:outerShdw blurRad="38100" dist="38100" dir="2700000" algn="tl">
                    <a:srgbClr val="000000">
                      <a:alpha val="43137"/>
                    </a:srgbClr>
                  </a:outerShdw>
                </a:effectLst>
              </a:rPr>
              <a:t>Because of this specific setup, a student living in a rural area with zero cellular coverage can open the EDU Core app, read their AI-personalized lessons, and take quizzes all day long. The app will respond instantly because it's running entirely on the local device.</a:t>
            </a:r>
          </a:p>
          <a:p>
            <a:pPr marL="342900" indent="-342900">
              <a:buFont typeface="Arial" panose="020B0604020202020204" pitchFamily="34" charset="0"/>
              <a:buChar char="•"/>
            </a:pPr>
            <a:r>
              <a:rPr lang="en-US" sz="2400" b="1" dirty="0">
                <a:effectLst>
                  <a:outerShdw blurRad="38100" dist="38100" dir="2700000" algn="tl">
                    <a:srgbClr val="000000">
                      <a:alpha val="43137"/>
                    </a:srgbClr>
                  </a:outerShdw>
                </a:effectLst>
              </a:rPr>
              <a:t>Later, when that student travels to a town with network coverage, their phone will automatically sync with the central server in seconds without them having to manually press a button or restart the application.</a:t>
            </a:r>
          </a:p>
        </p:txBody>
      </p:sp>
      <p:sp>
        <p:nvSpPr>
          <p:cNvPr id="11" name="TextBox 10">
            <a:extLst>
              <a:ext uri="{FF2B5EF4-FFF2-40B4-BE49-F238E27FC236}">
                <a16:creationId xmlns:a16="http://schemas.microsoft.com/office/drawing/2014/main" id="{80AEF6F3-0254-4F11-6EE8-20B103BA44E5}"/>
              </a:ext>
            </a:extLst>
          </p:cNvPr>
          <p:cNvSpPr txBox="1"/>
          <p:nvPr/>
        </p:nvSpPr>
        <p:spPr>
          <a:xfrm>
            <a:off x="611414" y="198686"/>
            <a:ext cx="10969172" cy="707886"/>
          </a:xfrm>
          <a:prstGeom prst="rect">
            <a:avLst/>
          </a:prstGeom>
          <a:noFill/>
        </p:spPr>
        <p:txBody>
          <a:bodyPr wrap="square" rtlCol="0">
            <a:spAutoFit/>
          </a:bodyPr>
          <a:lstStyle/>
          <a:p>
            <a:r>
              <a:rPr lang="en-US" sz="4000" b="1" dirty="0">
                <a:effectLst>
                  <a:outerShdw blurRad="38100" dist="38100" dir="2700000" algn="tl">
                    <a:srgbClr val="000000">
                      <a:alpha val="43137"/>
                    </a:srgbClr>
                  </a:outerShdw>
                </a:effectLst>
              </a:rPr>
              <a:t>3. SYSTEM ARCHITECTURE DESIGN</a:t>
            </a:r>
          </a:p>
        </p:txBody>
      </p:sp>
    </p:spTree>
    <p:extLst>
      <p:ext uri="{BB962C8B-B14F-4D97-AF65-F5344CB8AC3E}">
        <p14:creationId xmlns:p14="http://schemas.microsoft.com/office/powerpoint/2010/main" val="429073655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B285C-5CBD-9D3B-9029-D69710642AF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9B27BF6-640F-101F-22E2-357F42DE78BD}"/>
              </a:ext>
            </a:extLst>
          </p:cNvPr>
          <p:cNvSpPr txBox="1"/>
          <p:nvPr/>
        </p:nvSpPr>
        <p:spPr>
          <a:xfrm>
            <a:off x="611414" y="198686"/>
            <a:ext cx="10969172" cy="707886"/>
          </a:xfrm>
          <a:prstGeom prst="rect">
            <a:avLst/>
          </a:prstGeom>
          <a:noFill/>
        </p:spPr>
        <p:txBody>
          <a:bodyPr wrap="square" rtlCol="0">
            <a:spAutoFit/>
          </a:bodyPr>
          <a:lstStyle/>
          <a:p>
            <a:r>
              <a:rPr lang="en-US" sz="4000" b="1" dirty="0">
                <a:effectLst>
                  <a:outerShdw blurRad="38100" dist="38100" dir="2700000" algn="tl">
                    <a:srgbClr val="000000">
                      <a:alpha val="43137"/>
                    </a:srgbClr>
                  </a:outerShdw>
                </a:effectLst>
              </a:rPr>
              <a:t>3. SYSTEM ARCHITECTURE DESIGN</a:t>
            </a:r>
          </a:p>
        </p:txBody>
      </p:sp>
      <p:pic>
        <p:nvPicPr>
          <p:cNvPr id="2" name="Picture 1">
            <a:extLst>
              <a:ext uri="{FF2B5EF4-FFF2-40B4-BE49-F238E27FC236}">
                <a16:creationId xmlns:a16="http://schemas.microsoft.com/office/drawing/2014/main" id="{ED777300-5B78-E382-95E3-19B7626F18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1414" y="1360170"/>
            <a:ext cx="10475686" cy="5299144"/>
          </a:xfrm>
          <a:prstGeom prst="rect">
            <a:avLst/>
          </a:prstGeom>
        </p:spPr>
      </p:pic>
    </p:spTree>
    <p:extLst>
      <p:ext uri="{BB962C8B-B14F-4D97-AF65-F5344CB8AC3E}">
        <p14:creationId xmlns:p14="http://schemas.microsoft.com/office/powerpoint/2010/main" val="19448778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265F1-8DF0-74E1-8927-D781A982F12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FCE1575-B915-712C-4DF7-CE54C83BE2E3}"/>
              </a:ext>
            </a:extLst>
          </p:cNvPr>
          <p:cNvSpPr txBox="1"/>
          <p:nvPr/>
        </p:nvSpPr>
        <p:spPr>
          <a:xfrm>
            <a:off x="247650" y="310634"/>
            <a:ext cx="3829050" cy="1077218"/>
          </a:xfrm>
          <a:prstGeom prst="rect">
            <a:avLst/>
          </a:prstGeom>
          <a:noFill/>
        </p:spPr>
        <p:txBody>
          <a:bodyPr wrap="square">
            <a:spAutoFit/>
          </a:bodyPr>
          <a:lstStyle/>
          <a:p>
            <a:r>
              <a:rPr lang="en-US" sz="3200" b="1" dirty="0">
                <a:effectLst>
                  <a:outerShdw blurRad="38100" dist="38100" dir="2700000" algn="tl">
                    <a:srgbClr val="000000">
                      <a:alpha val="43137"/>
                    </a:srgbClr>
                  </a:outerShdw>
                </a:effectLst>
                <a:latin typeface="Tahoma" panose="020B0604030504040204" pitchFamily="34" charset="0"/>
                <a:ea typeface="Calibri" panose="020F0502020204030204" pitchFamily="34" charset="0"/>
              </a:rPr>
              <a:t>3.2 COMPONENT INTERACTIONS</a:t>
            </a:r>
            <a:endParaRPr lang="en-US" sz="3200"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1227926A-90F2-09AB-6D67-B60719203670}"/>
              </a:ext>
            </a:extLst>
          </p:cNvPr>
          <p:cNvSpPr txBox="1"/>
          <p:nvPr/>
        </p:nvSpPr>
        <p:spPr>
          <a:xfrm>
            <a:off x="238125" y="1659285"/>
            <a:ext cx="11715750" cy="3539430"/>
          </a:xfrm>
          <a:prstGeom prst="rect">
            <a:avLst/>
          </a:prstGeom>
          <a:noFill/>
        </p:spPr>
        <p:txBody>
          <a:bodyPr wrap="square">
            <a:spAutoFit/>
          </a:bodyPr>
          <a:lstStyle/>
          <a:p>
            <a:r>
              <a:rPr lang="en-US" sz="2400" b="1" dirty="0"/>
              <a:t>1. Client Layer (The Local "Smart Notebook")</a:t>
            </a:r>
          </a:p>
          <a:p>
            <a:r>
              <a:rPr lang="en-US" sz="2400" b="1" dirty="0"/>
              <a:t>What it is:</a:t>
            </a:r>
            <a:r>
              <a:rPr lang="en-US" sz="2400" dirty="0"/>
              <a:t> This is the actual app installed on a student’s or teacher's device (Android phone, Windows laptop, or Linux computer).</a:t>
            </a:r>
          </a:p>
          <a:p>
            <a:r>
              <a:rPr lang="en-US" sz="2400" b="1" dirty="0"/>
              <a:t>How it works:</a:t>
            </a:r>
            <a:r>
              <a:rPr lang="en-US" sz="2400" dirty="0"/>
              <a:t> Instead of asking the internet for information every time you click a button, the app talks directly to a small database (</a:t>
            </a:r>
            <a:r>
              <a:rPr lang="en-US" sz="2400" b="1" dirty="0"/>
              <a:t>SQLite</a:t>
            </a:r>
            <a:r>
              <a:rPr lang="en-US" sz="2400" dirty="0"/>
              <a:t>) built right inside the device.</a:t>
            </a:r>
          </a:p>
          <a:p>
            <a:r>
              <a:rPr lang="en-US" sz="2400" b="1" dirty="0"/>
              <a:t>Why it matters:</a:t>
            </a:r>
            <a:r>
              <a:rPr lang="en-US" sz="2400" dirty="0"/>
              <a:t> Because the database is inside the phone, the app responds instantly. If the internet drops out completely, the user won't notice any lag or see a loading spinner—the app keeps working perfectly.</a:t>
            </a:r>
          </a:p>
          <a:p>
            <a:endParaRPr lang="en-US" sz="3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96040803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8E8EA-07E7-A3E6-824B-F36918D205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B325C4C-AF0C-8002-E289-7D5012B80E6A}"/>
              </a:ext>
            </a:extLst>
          </p:cNvPr>
          <p:cNvSpPr txBox="1"/>
          <p:nvPr/>
        </p:nvSpPr>
        <p:spPr>
          <a:xfrm>
            <a:off x="247650" y="310634"/>
            <a:ext cx="3829050" cy="1077218"/>
          </a:xfrm>
          <a:prstGeom prst="rect">
            <a:avLst/>
          </a:prstGeom>
          <a:noFill/>
        </p:spPr>
        <p:txBody>
          <a:bodyPr wrap="square">
            <a:spAutoFit/>
          </a:bodyPr>
          <a:lstStyle/>
          <a:p>
            <a:r>
              <a:rPr lang="en-US" sz="3200" b="1" dirty="0">
                <a:effectLst>
                  <a:outerShdw blurRad="38100" dist="38100" dir="2700000" algn="tl">
                    <a:srgbClr val="000000">
                      <a:alpha val="43137"/>
                    </a:srgbClr>
                  </a:outerShdw>
                </a:effectLst>
                <a:latin typeface="Tahoma" panose="020B0604030504040204" pitchFamily="34" charset="0"/>
                <a:ea typeface="Calibri" panose="020F0502020204030204" pitchFamily="34" charset="0"/>
              </a:rPr>
              <a:t>3.2 COMPONENT INTERACTIONS</a:t>
            </a:r>
            <a:endParaRPr lang="en-US" sz="3200"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03EFA9AA-5065-197A-B2B2-16E9F7DF8E77}"/>
              </a:ext>
            </a:extLst>
          </p:cNvPr>
          <p:cNvSpPr txBox="1"/>
          <p:nvPr/>
        </p:nvSpPr>
        <p:spPr>
          <a:xfrm>
            <a:off x="238125" y="1659285"/>
            <a:ext cx="11715750" cy="3539430"/>
          </a:xfrm>
          <a:prstGeom prst="rect">
            <a:avLst/>
          </a:prstGeom>
          <a:noFill/>
        </p:spPr>
        <p:txBody>
          <a:bodyPr wrap="square">
            <a:spAutoFit/>
          </a:bodyPr>
          <a:lstStyle/>
          <a:p>
            <a:r>
              <a:rPr lang="en-US" sz="2400" b="1" dirty="0"/>
              <a:t>2. Local Sync Manager (The Outbox Checklist)</a:t>
            </a:r>
          </a:p>
          <a:p>
            <a:r>
              <a:rPr lang="en-US" sz="2400" b="1" dirty="0"/>
              <a:t>What it is:</a:t>
            </a:r>
            <a:r>
              <a:rPr lang="en-US" sz="2400" dirty="0"/>
              <a:t> This is the app's internal notepad that keeps track of what you did while offline.</a:t>
            </a:r>
          </a:p>
          <a:p>
            <a:r>
              <a:rPr lang="en-US" sz="2400" b="1" dirty="0"/>
              <a:t>How it works:</a:t>
            </a:r>
            <a:r>
              <a:rPr lang="en-US" sz="2400" dirty="0"/>
              <a:t> When you finish a quiz, gain a reading streak, or submit an assignment without internet, this manager writes that activity down on a digital "to-do list" (a mutation ledger queue).</a:t>
            </a:r>
          </a:p>
          <a:p>
            <a:r>
              <a:rPr lang="en-US" sz="2400" b="1" dirty="0"/>
              <a:t>Why it matters:</a:t>
            </a:r>
            <a:r>
              <a:rPr lang="en-US" sz="2400" dirty="0"/>
              <a:t> It patiently holds onto your progress. The exact moment your phone catches a cellular signal, the manager packages that checklist into tiny, lightweight text files (</a:t>
            </a:r>
            <a:r>
              <a:rPr lang="en-US" sz="2400" b="1" dirty="0"/>
              <a:t>JSON</a:t>
            </a:r>
            <a:r>
              <a:rPr lang="en-US" sz="2400" dirty="0"/>
              <a:t>) and sends them off to the central server automatically.</a:t>
            </a:r>
          </a:p>
          <a:p>
            <a:endParaRPr lang="en-US" sz="3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2074886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12054-F3C0-6217-72A7-794A0B4B850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8C33848-9085-B2C5-995C-EFB2E2669DB2}"/>
              </a:ext>
            </a:extLst>
          </p:cNvPr>
          <p:cNvSpPr txBox="1"/>
          <p:nvPr/>
        </p:nvSpPr>
        <p:spPr>
          <a:xfrm>
            <a:off x="247650" y="310634"/>
            <a:ext cx="3829050" cy="1077218"/>
          </a:xfrm>
          <a:prstGeom prst="rect">
            <a:avLst/>
          </a:prstGeom>
          <a:noFill/>
        </p:spPr>
        <p:txBody>
          <a:bodyPr wrap="square">
            <a:spAutoFit/>
          </a:bodyPr>
          <a:lstStyle/>
          <a:p>
            <a:r>
              <a:rPr lang="en-US" sz="3200" b="1" dirty="0">
                <a:effectLst>
                  <a:outerShdw blurRad="38100" dist="38100" dir="2700000" algn="tl">
                    <a:srgbClr val="000000">
                      <a:alpha val="43137"/>
                    </a:srgbClr>
                  </a:outerShdw>
                </a:effectLst>
                <a:latin typeface="Tahoma" panose="020B0604030504040204" pitchFamily="34" charset="0"/>
                <a:ea typeface="Calibri" panose="020F0502020204030204" pitchFamily="34" charset="0"/>
              </a:rPr>
              <a:t>3.2 COMPONENT INTERACTIONS</a:t>
            </a:r>
            <a:endParaRPr lang="en-US" sz="3200"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3DBBA2F1-8BCD-D171-D600-27EC463A8843}"/>
              </a:ext>
            </a:extLst>
          </p:cNvPr>
          <p:cNvSpPr txBox="1"/>
          <p:nvPr/>
        </p:nvSpPr>
        <p:spPr>
          <a:xfrm>
            <a:off x="238125" y="1659285"/>
            <a:ext cx="11715750" cy="4278094"/>
          </a:xfrm>
          <a:prstGeom prst="rect">
            <a:avLst/>
          </a:prstGeom>
          <a:noFill/>
        </p:spPr>
        <p:txBody>
          <a:bodyPr wrap="square">
            <a:spAutoFit/>
          </a:bodyPr>
          <a:lstStyle/>
          <a:p>
            <a:r>
              <a:rPr lang="en-US" sz="2400" b="1" dirty="0"/>
              <a:t>3. Sync Engine Service (The Conflict Resolver)</a:t>
            </a:r>
          </a:p>
          <a:p>
            <a:r>
              <a:rPr lang="en-US" sz="2400" b="1" dirty="0"/>
              <a:t>What it is:</a:t>
            </a:r>
            <a:r>
              <a:rPr lang="en-US" sz="2400" dirty="0"/>
              <a:t> This is the smart coordinator sitting on the central cloud server (</a:t>
            </a:r>
            <a:r>
              <a:rPr lang="en-US" sz="2400" b="1" dirty="0"/>
              <a:t>PostgreSQL database</a:t>
            </a:r>
            <a:r>
              <a:rPr lang="en-US" sz="2400" dirty="0"/>
              <a:t>).</a:t>
            </a:r>
          </a:p>
          <a:p>
            <a:r>
              <a:rPr lang="en-US" sz="2400" b="1" dirty="0"/>
              <a:t>How it works:</a:t>
            </a:r>
            <a:r>
              <a:rPr lang="en-US" sz="2400" dirty="0"/>
              <a:t> When the network comes back, multiple devices might try to update the server at the same time, or one student might have used two different devices while offline. This engine uses a smart sorting system (ID resolution) to figure out exactly what happened first, making sure no data is lost or overwritten incorrectly.</a:t>
            </a:r>
          </a:p>
          <a:p>
            <a:r>
              <a:rPr lang="en-US" sz="2400" b="1" dirty="0"/>
              <a:t>Why it matters:</a:t>
            </a:r>
            <a:r>
              <a:rPr lang="en-US" sz="2400" dirty="0"/>
              <a:t> It acts like a referee, neatly organizing and merging all the offline work from thousands of students across Sierra Leone into the master database without causing a digital traffic jam.</a:t>
            </a:r>
          </a:p>
          <a:p>
            <a:endParaRPr lang="en-US" sz="3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0876342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E6322-8868-C9B6-1BA5-AE5A2EA2D83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974D03B-2615-100C-A7D5-502299920EB4}"/>
              </a:ext>
            </a:extLst>
          </p:cNvPr>
          <p:cNvSpPr txBox="1"/>
          <p:nvPr/>
        </p:nvSpPr>
        <p:spPr>
          <a:xfrm>
            <a:off x="247650" y="310634"/>
            <a:ext cx="3829050" cy="1077218"/>
          </a:xfrm>
          <a:prstGeom prst="rect">
            <a:avLst/>
          </a:prstGeom>
          <a:noFill/>
        </p:spPr>
        <p:txBody>
          <a:bodyPr wrap="square">
            <a:spAutoFit/>
          </a:bodyPr>
          <a:lstStyle/>
          <a:p>
            <a:r>
              <a:rPr lang="en-US" sz="3200" b="1" dirty="0">
                <a:effectLst>
                  <a:outerShdw blurRad="38100" dist="38100" dir="2700000" algn="tl">
                    <a:srgbClr val="000000">
                      <a:alpha val="43137"/>
                    </a:srgbClr>
                  </a:outerShdw>
                </a:effectLst>
                <a:latin typeface="Tahoma" panose="020B0604030504040204" pitchFamily="34" charset="0"/>
                <a:ea typeface="Calibri" panose="020F0502020204030204" pitchFamily="34" charset="0"/>
              </a:rPr>
              <a:t>3.2 COMPONENT INTERACTIONS</a:t>
            </a:r>
            <a:endParaRPr lang="en-US" sz="3200"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B17A8D40-6E06-C5DF-4466-0124C700947B}"/>
              </a:ext>
            </a:extLst>
          </p:cNvPr>
          <p:cNvSpPr txBox="1"/>
          <p:nvPr/>
        </p:nvSpPr>
        <p:spPr>
          <a:xfrm>
            <a:off x="238125" y="1659285"/>
            <a:ext cx="11715750" cy="3539430"/>
          </a:xfrm>
          <a:prstGeom prst="rect">
            <a:avLst/>
          </a:prstGeom>
          <a:noFill/>
        </p:spPr>
        <p:txBody>
          <a:bodyPr wrap="square">
            <a:spAutoFit/>
          </a:bodyPr>
          <a:lstStyle/>
          <a:p>
            <a:r>
              <a:rPr lang="en-US" sz="2400" b="1" dirty="0"/>
              <a:t>4. AI Evaluation Microservice (The Pocket Tutor)</a:t>
            </a:r>
          </a:p>
          <a:p>
            <a:r>
              <a:rPr lang="en-US" sz="2400" b="1" dirty="0"/>
              <a:t>What it is:</a:t>
            </a:r>
            <a:r>
              <a:rPr lang="en-US" sz="2400" dirty="0"/>
              <a:t> This is a highly efficient AI brain that analyzes how the student is doing.</a:t>
            </a:r>
          </a:p>
          <a:p>
            <a:r>
              <a:rPr lang="en-US" sz="2400" b="1" dirty="0"/>
              <a:t>How it works:</a:t>
            </a:r>
            <a:r>
              <a:rPr lang="en-US" sz="2400" dirty="0"/>
              <a:t> Instead of using a massive, expensive AI that requires a supercomputer, it uses a scaled-down, "lightweight" AI model. It looks at the student's quiz scores, figures out their weak spots, and creates a customized, bite-sized study plan.</a:t>
            </a:r>
          </a:p>
          <a:p>
            <a:r>
              <a:rPr lang="en-US" sz="2400" b="1" dirty="0"/>
              <a:t>Why it matters:</a:t>
            </a:r>
            <a:r>
              <a:rPr lang="en-US" sz="2400" dirty="0"/>
              <a:t> To save internet data, it compresses these study plans into tiny files. It can even turn important study tips and test questions into standard, text-only </a:t>
            </a:r>
            <a:r>
              <a:rPr lang="en-US" sz="2400" b="1" dirty="0"/>
              <a:t>SMS notifications</a:t>
            </a:r>
            <a:r>
              <a:rPr lang="en-US" sz="2400" dirty="0"/>
              <a:t> that can be sent to old-fashioned way.</a:t>
            </a:r>
          </a:p>
          <a:p>
            <a:endParaRPr lang="en-US" sz="3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9689645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7038B-F23B-B1D0-8071-EBB8E06C67B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A396E10-358F-AB9F-35F2-CA4E2763FF5A}"/>
              </a:ext>
            </a:extLst>
          </p:cNvPr>
          <p:cNvSpPr txBox="1"/>
          <p:nvPr/>
        </p:nvSpPr>
        <p:spPr>
          <a:xfrm>
            <a:off x="247650" y="310634"/>
            <a:ext cx="4324350" cy="3046988"/>
          </a:xfrm>
          <a:prstGeom prst="rect">
            <a:avLst/>
          </a:prstGeom>
          <a:noFill/>
        </p:spPr>
        <p:txBody>
          <a:bodyPr wrap="square">
            <a:spAutoFit/>
          </a:bodyPr>
          <a:lstStyle/>
          <a:p>
            <a:r>
              <a:rPr lang="en-US" sz="4800" b="1" dirty="0">
                <a:effectLst>
                  <a:outerShdw blurRad="38100" dist="38100" dir="2700000" algn="tl">
                    <a:srgbClr val="000000">
                      <a:alpha val="43137"/>
                    </a:srgbClr>
                  </a:outerShdw>
                </a:effectLst>
              </a:rPr>
              <a:t>4. UI/UX INTERACTIVE PROTOTYPE ARCHITECTURE</a:t>
            </a:r>
          </a:p>
        </p:txBody>
      </p:sp>
      <p:sp>
        <p:nvSpPr>
          <p:cNvPr id="2" name="TextBox 1">
            <a:extLst>
              <a:ext uri="{FF2B5EF4-FFF2-40B4-BE49-F238E27FC236}">
                <a16:creationId xmlns:a16="http://schemas.microsoft.com/office/drawing/2014/main" id="{47D556DF-790B-EA2B-5D93-90D83C9B7B68}"/>
              </a:ext>
            </a:extLst>
          </p:cNvPr>
          <p:cNvSpPr txBox="1"/>
          <p:nvPr/>
        </p:nvSpPr>
        <p:spPr>
          <a:xfrm>
            <a:off x="5886450" y="1144012"/>
            <a:ext cx="5314950" cy="3970318"/>
          </a:xfrm>
          <a:prstGeom prst="rect">
            <a:avLst/>
          </a:prstGeom>
          <a:noFill/>
        </p:spPr>
        <p:txBody>
          <a:bodyPr wrap="square">
            <a:spAutoFit/>
          </a:bodyPr>
          <a:lstStyle/>
          <a:p>
            <a:r>
              <a:rPr lang="en-US" sz="2800" b="1" dirty="0">
                <a:effectLst>
                  <a:outerShdw blurRad="38100" dist="38100" dir="2700000" algn="tl">
                    <a:srgbClr val="000000">
                      <a:alpha val="43137"/>
                    </a:srgbClr>
                  </a:outerShdw>
                </a:effectLst>
              </a:rPr>
              <a:t>The EDU Core implementation maps complex user navigation into highly responsive screen layouts developed within Figma. The interface enforces low-contrast, daylight-readable, and highly readable typography (Tahoma-dominant) optimized to consume minimal device processor cycles</a:t>
            </a:r>
          </a:p>
        </p:txBody>
      </p:sp>
    </p:spTree>
    <p:extLst>
      <p:ext uri="{BB962C8B-B14F-4D97-AF65-F5344CB8AC3E}">
        <p14:creationId xmlns:p14="http://schemas.microsoft.com/office/powerpoint/2010/main" val="114030275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64228-1114-1F3B-3461-26B7DCD7776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9C796C4-8DDF-69FA-A77C-4B79BDACC56C}"/>
              </a:ext>
            </a:extLst>
          </p:cNvPr>
          <p:cNvSpPr txBox="1"/>
          <p:nvPr/>
        </p:nvSpPr>
        <p:spPr>
          <a:xfrm>
            <a:off x="247650" y="310634"/>
            <a:ext cx="4324350" cy="3046988"/>
          </a:xfrm>
          <a:prstGeom prst="rect">
            <a:avLst/>
          </a:prstGeom>
          <a:noFill/>
        </p:spPr>
        <p:txBody>
          <a:bodyPr wrap="square">
            <a:spAutoFit/>
          </a:bodyPr>
          <a:lstStyle/>
          <a:p>
            <a:r>
              <a:rPr lang="en-US" sz="4800" b="1" dirty="0">
                <a:effectLst>
                  <a:outerShdw blurRad="38100" dist="38100" dir="2700000" algn="tl">
                    <a:srgbClr val="000000">
                      <a:alpha val="43137"/>
                    </a:srgbClr>
                  </a:outerShdw>
                </a:effectLst>
              </a:rPr>
              <a:t>4. UI/UX INTERACTIVE PROTOTYPE ARCHITECTURE</a:t>
            </a:r>
          </a:p>
        </p:txBody>
      </p:sp>
      <p:pic>
        <p:nvPicPr>
          <p:cNvPr id="11" name="Picture 10">
            <a:extLst>
              <a:ext uri="{FF2B5EF4-FFF2-40B4-BE49-F238E27FC236}">
                <a16:creationId xmlns:a16="http://schemas.microsoft.com/office/drawing/2014/main" id="{DF198AF9-27EC-FDA2-27DC-F5FF58634096}"/>
              </a:ext>
            </a:extLst>
          </p:cNvPr>
          <p:cNvPicPr>
            <a:picLocks noChangeAspect="1"/>
          </p:cNvPicPr>
          <p:nvPr/>
        </p:nvPicPr>
        <p:blipFill>
          <a:blip r:embed="rId2">
            <a:extLst>
              <a:ext uri="{28A0092B-C50C-407E-A947-70E740481C1C}">
                <a14:useLocalDpi xmlns:a14="http://schemas.microsoft.com/office/drawing/2010/main" val="0"/>
              </a:ext>
            </a:extLst>
          </a:blip>
          <a:srcRect l="28251" r="2915"/>
          <a:stretch>
            <a:fillRect/>
          </a:stretch>
        </p:blipFill>
        <p:spPr>
          <a:xfrm>
            <a:off x="6096000" y="0"/>
            <a:ext cx="6096000" cy="6858000"/>
          </a:xfrm>
          <a:prstGeom prst="rect">
            <a:avLst/>
          </a:prstGeom>
        </p:spPr>
      </p:pic>
      <p:sp>
        <p:nvSpPr>
          <p:cNvPr id="12" name="TextBox 11">
            <a:extLst>
              <a:ext uri="{FF2B5EF4-FFF2-40B4-BE49-F238E27FC236}">
                <a16:creationId xmlns:a16="http://schemas.microsoft.com/office/drawing/2014/main" id="{D15396D2-9523-A3FC-166E-B9BC2FF68F13}"/>
              </a:ext>
            </a:extLst>
          </p:cNvPr>
          <p:cNvSpPr txBox="1"/>
          <p:nvPr/>
        </p:nvSpPr>
        <p:spPr>
          <a:xfrm>
            <a:off x="1267239" y="4314306"/>
            <a:ext cx="4324350" cy="1569660"/>
          </a:xfrm>
          <a:prstGeom prst="rect">
            <a:avLst/>
          </a:prstGeom>
          <a:noFill/>
        </p:spPr>
        <p:txBody>
          <a:bodyPr wrap="square">
            <a:spAutoFit/>
          </a:bodyPr>
          <a:lstStyle/>
          <a:p>
            <a:r>
              <a:rPr lang="en-US" sz="3200" b="1" dirty="0">
                <a:effectLst>
                  <a:outerShdw blurRad="38100" dist="38100" dir="2700000" algn="tl">
                    <a:srgbClr val="000000">
                      <a:alpha val="43137"/>
                    </a:srgbClr>
                  </a:outerShdw>
                </a:effectLst>
              </a:rPr>
              <a:t>Example screen shot of system first page created within </a:t>
            </a:r>
            <a:r>
              <a:rPr lang="en-US" sz="3200" b="1" dirty="0" err="1">
                <a:effectLst>
                  <a:outerShdw blurRad="38100" dist="38100" dir="2700000" algn="tl">
                    <a:srgbClr val="000000">
                      <a:alpha val="43137"/>
                    </a:srgbClr>
                  </a:outerShdw>
                </a:effectLst>
              </a:rPr>
              <a:t>figma</a:t>
            </a:r>
            <a:endParaRPr lang="en-US" sz="32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0329241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278AB-FC6E-DA63-971B-B2C19AF53728}"/>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98C8BB8-D650-673A-1F98-A728A93B6855}"/>
              </a:ext>
            </a:extLst>
          </p:cNvPr>
          <p:cNvGraphicFramePr>
            <a:graphicFrameLocks noGrp="1"/>
          </p:cNvGraphicFramePr>
          <p:nvPr>
            <p:extLst>
              <p:ext uri="{D42A27DB-BD31-4B8C-83A1-F6EECF244321}">
                <p14:modId xmlns:p14="http://schemas.microsoft.com/office/powerpoint/2010/main" val="1399833831"/>
              </p:ext>
            </p:extLst>
          </p:nvPr>
        </p:nvGraphicFramePr>
        <p:xfrm>
          <a:off x="5638799" y="138541"/>
          <a:ext cx="6004702" cy="6580918"/>
        </p:xfrm>
        <a:graphic>
          <a:graphicData uri="http://schemas.openxmlformats.org/drawingml/2006/table">
            <a:tbl>
              <a:tblPr firstRow="1" firstCol="1" bandRow="1">
                <a:tableStyleId>{5C22544A-7EE6-4342-B048-85BDC9FD1C3A}</a:tableStyleId>
              </a:tblPr>
              <a:tblGrid>
                <a:gridCol w="1500855">
                  <a:extLst>
                    <a:ext uri="{9D8B030D-6E8A-4147-A177-3AD203B41FA5}">
                      <a16:colId xmlns:a16="http://schemas.microsoft.com/office/drawing/2014/main" val="1011646556"/>
                    </a:ext>
                  </a:extLst>
                </a:gridCol>
                <a:gridCol w="1500855">
                  <a:extLst>
                    <a:ext uri="{9D8B030D-6E8A-4147-A177-3AD203B41FA5}">
                      <a16:colId xmlns:a16="http://schemas.microsoft.com/office/drawing/2014/main" val="799648105"/>
                    </a:ext>
                  </a:extLst>
                </a:gridCol>
                <a:gridCol w="1501496">
                  <a:extLst>
                    <a:ext uri="{9D8B030D-6E8A-4147-A177-3AD203B41FA5}">
                      <a16:colId xmlns:a16="http://schemas.microsoft.com/office/drawing/2014/main" val="3791371931"/>
                    </a:ext>
                  </a:extLst>
                </a:gridCol>
                <a:gridCol w="1501496">
                  <a:extLst>
                    <a:ext uri="{9D8B030D-6E8A-4147-A177-3AD203B41FA5}">
                      <a16:colId xmlns:a16="http://schemas.microsoft.com/office/drawing/2014/main" val="3652521295"/>
                    </a:ext>
                  </a:extLst>
                </a:gridCol>
              </a:tblGrid>
              <a:tr h="448829">
                <a:tc>
                  <a:txBody>
                    <a:bodyPr/>
                    <a:lstStyle/>
                    <a:p>
                      <a:pPr marL="0" marR="0" algn="just">
                        <a:lnSpc>
                          <a:spcPct val="150000"/>
                        </a:lnSpc>
                        <a:spcAft>
                          <a:spcPts val="800"/>
                        </a:spcAft>
                        <a:buNone/>
                      </a:pPr>
                      <a:r>
                        <a:rPr lang="en-US" sz="700" kern="100">
                          <a:effectLst/>
                        </a:rPr>
                        <a:t>TASK ID</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a:effectLst/>
                        </a:rPr>
                        <a:t>Task Characterization </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dirty="0">
                          <a:effectLst/>
                        </a:rPr>
                        <a:t>Estimated Duration </a:t>
                      </a:r>
                      <a:endParaRPr lang="en-US" sz="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a:effectLst/>
                        </a:rPr>
                        <a:t>Immediate Predecessor Paths</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extLst>
                  <a:ext uri="{0D108BD9-81ED-4DB2-BD59-A6C34878D82A}">
                    <a16:rowId xmlns:a16="http://schemas.microsoft.com/office/drawing/2014/main" val="413648774"/>
                  </a:ext>
                </a:extLst>
              </a:tr>
              <a:tr h="1011789">
                <a:tc>
                  <a:txBody>
                    <a:bodyPr/>
                    <a:lstStyle/>
                    <a:p>
                      <a:pPr marL="0" marR="0" algn="just">
                        <a:lnSpc>
                          <a:spcPct val="150000"/>
                        </a:lnSpc>
                        <a:spcAft>
                          <a:spcPts val="800"/>
                        </a:spcAft>
                        <a:buNone/>
                      </a:pPr>
                      <a:r>
                        <a:rPr lang="en-US" sz="700" kern="100">
                          <a:effectLst/>
                        </a:rPr>
                        <a:t>A</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a:effectLst/>
                        </a:rPr>
                        <a:t>Research, Collection Of Materials,</a:t>
                      </a:r>
                    </a:p>
                    <a:p>
                      <a:pPr marL="0" marR="0" algn="just">
                        <a:lnSpc>
                          <a:spcPct val="150000"/>
                        </a:lnSpc>
                        <a:spcAft>
                          <a:spcPts val="800"/>
                        </a:spcAft>
                        <a:buNone/>
                      </a:pPr>
                      <a:r>
                        <a:rPr lang="en-US" sz="700" kern="100">
                          <a:effectLst/>
                        </a:rPr>
                        <a:t>Data processing</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dirty="0">
                          <a:effectLst/>
                        </a:rPr>
                        <a:t>10</a:t>
                      </a:r>
                      <a:endParaRPr lang="en-US" sz="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dirty="0">
                          <a:effectLst/>
                        </a:rPr>
                        <a:t>NONE</a:t>
                      </a:r>
                      <a:endParaRPr lang="en-US" sz="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extLst>
                  <a:ext uri="{0D108BD9-81ED-4DB2-BD59-A6C34878D82A}">
                    <a16:rowId xmlns:a16="http://schemas.microsoft.com/office/drawing/2014/main" val="4052483484"/>
                  </a:ext>
                </a:extLst>
              </a:tr>
              <a:tr h="1398824">
                <a:tc>
                  <a:txBody>
                    <a:bodyPr/>
                    <a:lstStyle/>
                    <a:p>
                      <a:pPr marL="0" marR="0" algn="just">
                        <a:lnSpc>
                          <a:spcPct val="150000"/>
                        </a:lnSpc>
                        <a:spcAft>
                          <a:spcPts val="800"/>
                        </a:spcAft>
                        <a:buNone/>
                      </a:pPr>
                      <a:r>
                        <a:rPr lang="en-US" sz="700" kern="100">
                          <a:effectLst/>
                        </a:rPr>
                        <a:t>B</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a:effectLst/>
                        </a:rPr>
                        <a:t>System Specification Blueprinting, Relational Architecture &amp; Database Modeling</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a:effectLst/>
                        </a:rPr>
                        <a:t>15</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a:effectLst/>
                        </a:rPr>
                        <a:t>A</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extLst>
                  <a:ext uri="{0D108BD9-81ED-4DB2-BD59-A6C34878D82A}">
                    <a16:rowId xmlns:a16="http://schemas.microsoft.com/office/drawing/2014/main" val="3614164275"/>
                  </a:ext>
                </a:extLst>
              </a:tr>
              <a:tr h="1161326">
                <a:tc>
                  <a:txBody>
                    <a:bodyPr/>
                    <a:lstStyle/>
                    <a:p>
                      <a:pPr marL="0" marR="0" algn="just">
                        <a:lnSpc>
                          <a:spcPct val="150000"/>
                        </a:lnSpc>
                        <a:spcAft>
                          <a:spcPts val="800"/>
                        </a:spcAft>
                        <a:buNone/>
                      </a:pPr>
                      <a:r>
                        <a:rPr lang="en-US" sz="700" kern="100">
                          <a:effectLst/>
                        </a:rPr>
                        <a:t>C</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a:effectLst/>
                        </a:rPr>
                        <a:t>Figma High-Fidelity and flexibily Interactive frames &amp; Core Screen UX System Definition</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a:effectLst/>
                        </a:rPr>
                        <a:t>12</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a:effectLst/>
                        </a:rPr>
                        <a:t>B</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extLst>
                  <a:ext uri="{0D108BD9-81ED-4DB2-BD59-A6C34878D82A}">
                    <a16:rowId xmlns:a16="http://schemas.microsoft.com/office/drawing/2014/main" val="2188275269"/>
                  </a:ext>
                </a:extLst>
              </a:tr>
              <a:tr h="1161326">
                <a:tc>
                  <a:txBody>
                    <a:bodyPr/>
                    <a:lstStyle/>
                    <a:p>
                      <a:pPr marL="0" marR="0" algn="just">
                        <a:lnSpc>
                          <a:spcPct val="150000"/>
                        </a:lnSpc>
                        <a:spcAft>
                          <a:spcPts val="800"/>
                        </a:spcAft>
                        <a:buNone/>
                      </a:pPr>
                      <a:r>
                        <a:rPr lang="en-US" sz="700" kern="100">
                          <a:effectLst/>
                        </a:rPr>
                        <a:t>D</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a:effectLst/>
                        </a:rPr>
                        <a:t>Local SQL Framework Deployment &amp; Client-Side UI View Development</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a:effectLst/>
                        </a:rPr>
                        <a:t>20</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a:effectLst/>
                        </a:rPr>
                        <a:t>C</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extLst>
                  <a:ext uri="{0D108BD9-81ED-4DB2-BD59-A6C34878D82A}">
                    <a16:rowId xmlns:a16="http://schemas.microsoft.com/office/drawing/2014/main" val="2524735453"/>
                  </a:ext>
                </a:extLst>
              </a:tr>
              <a:tr h="1398824">
                <a:tc>
                  <a:txBody>
                    <a:bodyPr/>
                    <a:lstStyle/>
                    <a:p>
                      <a:pPr marL="0" marR="0" algn="just">
                        <a:lnSpc>
                          <a:spcPct val="150000"/>
                        </a:lnSpc>
                        <a:spcAft>
                          <a:spcPts val="800"/>
                        </a:spcAft>
                        <a:buNone/>
                      </a:pPr>
                      <a:r>
                        <a:rPr lang="en-US" sz="700" kern="100">
                          <a:effectLst/>
                        </a:rPr>
                        <a:t>E</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a:effectLst/>
                        </a:rPr>
                        <a:t>Cloud Application Setup, Sync Engine &amp; PostgreSQL Central Infrastructure Integration</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a:effectLst/>
                        </a:rPr>
                        <a:t>20</a:t>
                      </a:r>
                      <a:endParaRPr lang="en-US" sz="700" kern="10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tc>
                  <a:txBody>
                    <a:bodyPr/>
                    <a:lstStyle/>
                    <a:p>
                      <a:pPr marL="0" marR="0" algn="just">
                        <a:lnSpc>
                          <a:spcPct val="150000"/>
                        </a:lnSpc>
                        <a:spcAft>
                          <a:spcPts val="800"/>
                        </a:spcAft>
                        <a:buNone/>
                      </a:pPr>
                      <a:r>
                        <a:rPr lang="en-US" sz="700" kern="100" dirty="0">
                          <a:effectLst/>
                        </a:rPr>
                        <a:t>C</a:t>
                      </a:r>
                      <a:endParaRPr lang="en-US" sz="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9259" marR="39259" marT="0" marB="0"/>
                </a:tc>
                <a:extLst>
                  <a:ext uri="{0D108BD9-81ED-4DB2-BD59-A6C34878D82A}">
                    <a16:rowId xmlns:a16="http://schemas.microsoft.com/office/drawing/2014/main" val="626218490"/>
                  </a:ext>
                </a:extLst>
              </a:tr>
            </a:tbl>
          </a:graphicData>
        </a:graphic>
      </p:graphicFrame>
      <p:sp>
        <p:nvSpPr>
          <p:cNvPr id="3" name="Rectangle 1">
            <a:extLst>
              <a:ext uri="{FF2B5EF4-FFF2-40B4-BE49-F238E27FC236}">
                <a16:creationId xmlns:a16="http://schemas.microsoft.com/office/drawing/2014/main" id="{DBFAC9CC-61D7-6CC4-0093-F390D2EA2120}"/>
              </a:ext>
            </a:extLst>
          </p:cNvPr>
          <p:cNvSpPr>
            <a:spLocks noChangeArrowheads="1"/>
          </p:cNvSpPr>
          <p:nvPr/>
        </p:nvSpPr>
        <p:spPr bwMode="auto">
          <a:xfrm>
            <a:off x="548499" y="1320833"/>
            <a:ext cx="415319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altLang="en-US" sz="3600" b="1" dirty="0">
                <a:effectLst>
                  <a:outerShdw blurRad="38100" dist="38100" dir="2700000" algn="tl">
                    <a:srgbClr val="000000">
                      <a:alpha val="43137"/>
                    </a:srgbClr>
                  </a:outerShdw>
                </a:effectLst>
                <a:latin typeface="Tahoma" panose="020B0604030504040204" pitchFamily="34" charset="0"/>
                <a:ea typeface="Calibri" panose="020F0502020204030204" pitchFamily="34" charset="0"/>
                <a:cs typeface="Tahoma" panose="020B0604030504040204" pitchFamily="34" charset="0"/>
              </a:rPr>
              <a:t>5.</a:t>
            </a:r>
            <a:r>
              <a:rPr lang="en-US" altLang="en-US" sz="36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 </a:t>
            </a:r>
            <a:r>
              <a:rPr lang="en-US" altLang="en-US" sz="3600" b="1" dirty="0">
                <a:effectLst>
                  <a:outerShdw blurRad="38100" dist="38100" dir="2700000" algn="tl">
                    <a:srgbClr val="000000">
                      <a:alpha val="43137"/>
                    </a:srgbClr>
                  </a:outerShdw>
                </a:effectLst>
                <a:latin typeface="Tahoma" panose="020B0604030504040204" pitchFamily="34" charset="0"/>
                <a:ea typeface="Calibri" panose="020F0502020204030204" pitchFamily="34" charset="0"/>
                <a:cs typeface="Tahoma" panose="020B0604030504040204" pitchFamily="34" charset="0"/>
              </a:rPr>
              <a:t>PROJECT MANAGEMENT, SCHEDULING, AND NETWORK PLANNING</a:t>
            </a:r>
            <a:endParaRPr lang="en-US" altLang="en-US" sz="3600" dirty="0">
              <a:effectLst>
                <a:outerShdw blurRad="38100" dist="38100" dir="2700000" algn="tl">
                  <a:srgbClr val="000000">
                    <a:alpha val="43137"/>
                  </a:srgbClr>
                </a:outerShdw>
              </a:effectLst>
              <a:latin typeface="Arial" panose="020B0604020202020204" pitchFamily="34" charset="0"/>
            </a:endParaRPr>
          </a:p>
        </p:txBody>
      </p:sp>
    </p:spTree>
    <p:extLst>
      <p:ext uri="{BB962C8B-B14F-4D97-AF65-F5344CB8AC3E}">
        <p14:creationId xmlns:p14="http://schemas.microsoft.com/office/powerpoint/2010/main" val="3767500334"/>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9567C-4CCA-509F-5F2A-87C28ABB1246}"/>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6C92CADD-675F-0BCA-2CF4-282720E0780B}"/>
              </a:ext>
            </a:extLst>
          </p:cNvPr>
          <p:cNvSpPr>
            <a:spLocks noChangeArrowheads="1"/>
          </p:cNvSpPr>
          <p:nvPr/>
        </p:nvSpPr>
        <p:spPr bwMode="auto">
          <a:xfrm>
            <a:off x="1100949" y="2349533"/>
            <a:ext cx="415319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altLang="en-US" sz="3600" b="1" dirty="0">
                <a:effectLst>
                  <a:outerShdw blurRad="38100" dist="38100" dir="2700000" algn="tl">
                    <a:srgbClr val="000000">
                      <a:alpha val="43137"/>
                    </a:srgbClr>
                  </a:outerShdw>
                </a:effectLst>
                <a:latin typeface="Tahoma" panose="020B0604030504040204" pitchFamily="34" charset="0"/>
                <a:ea typeface="Calibri" panose="020F0502020204030204" pitchFamily="34" charset="0"/>
                <a:cs typeface="Tahoma" panose="020B0604030504040204" pitchFamily="34" charset="0"/>
              </a:rPr>
              <a:t>5.</a:t>
            </a:r>
            <a:r>
              <a:rPr lang="en-US" altLang="en-US" sz="36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 </a:t>
            </a:r>
            <a:r>
              <a:rPr lang="en-US" altLang="en-US" sz="3600" b="1" dirty="0">
                <a:effectLst>
                  <a:outerShdw blurRad="38100" dist="38100" dir="2700000" algn="tl">
                    <a:srgbClr val="000000">
                      <a:alpha val="43137"/>
                    </a:srgbClr>
                  </a:outerShdw>
                </a:effectLst>
                <a:latin typeface="Tahoma" panose="020B0604030504040204" pitchFamily="34" charset="0"/>
                <a:ea typeface="Calibri" panose="020F0502020204030204" pitchFamily="34" charset="0"/>
                <a:cs typeface="Tahoma" panose="020B0604030504040204" pitchFamily="34" charset="0"/>
              </a:rPr>
              <a:t>PROJECT MANAGEMENT, SCHEDULING, AND NETWORK PLANNING</a:t>
            </a:r>
            <a:endParaRPr lang="en-US" altLang="en-US" sz="3600" dirty="0">
              <a:effectLst>
                <a:outerShdw blurRad="38100" dist="38100" dir="2700000" algn="tl">
                  <a:srgbClr val="000000">
                    <a:alpha val="43137"/>
                  </a:srgbClr>
                </a:outerShdw>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CA5C4613-919F-D66B-53D2-49DA49F3A042}"/>
              </a:ext>
            </a:extLst>
          </p:cNvPr>
          <p:cNvGraphicFramePr>
            <a:graphicFrameLocks noGrp="1"/>
          </p:cNvGraphicFramePr>
          <p:nvPr>
            <p:extLst>
              <p:ext uri="{D42A27DB-BD31-4B8C-83A1-F6EECF244321}">
                <p14:modId xmlns:p14="http://schemas.microsoft.com/office/powerpoint/2010/main" val="3904732471"/>
              </p:ext>
            </p:extLst>
          </p:nvPr>
        </p:nvGraphicFramePr>
        <p:xfrm>
          <a:off x="5413375" y="427638"/>
          <a:ext cx="5937250" cy="6030312"/>
        </p:xfrm>
        <a:graphic>
          <a:graphicData uri="http://schemas.openxmlformats.org/drawingml/2006/table">
            <a:tbl>
              <a:tblPr firstRow="1" firstCol="1" bandRow="1">
                <a:tableStyleId>{5C22544A-7EE6-4342-B048-85BDC9FD1C3A}</a:tableStyleId>
              </a:tblPr>
              <a:tblGrid>
                <a:gridCol w="1483995">
                  <a:extLst>
                    <a:ext uri="{9D8B030D-6E8A-4147-A177-3AD203B41FA5}">
                      <a16:colId xmlns:a16="http://schemas.microsoft.com/office/drawing/2014/main" val="3038116609"/>
                    </a:ext>
                  </a:extLst>
                </a:gridCol>
                <a:gridCol w="1483995">
                  <a:extLst>
                    <a:ext uri="{9D8B030D-6E8A-4147-A177-3AD203B41FA5}">
                      <a16:colId xmlns:a16="http://schemas.microsoft.com/office/drawing/2014/main" val="941042765"/>
                    </a:ext>
                  </a:extLst>
                </a:gridCol>
                <a:gridCol w="1484630">
                  <a:extLst>
                    <a:ext uri="{9D8B030D-6E8A-4147-A177-3AD203B41FA5}">
                      <a16:colId xmlns:a16="http://schemas.microsoft.com/office/drawing/2014/main" val="707405867"/>
                    </a:ext>
                  </a:extLst>
                </a:gridCol>
                <a:gridCol w="1484630">
                  <a:extLst>
                    <a:ext uri="{9D8B030D-6E8A-4147-A177-3AD203B41FA5}">
                      <a16:colId xmlns:a16="http://schemas.microsoft.com/office/drawing/2014/main" val="38182822"/>
                    </a:ext>
                  </a:extLst>
                </a:gridCol>
              </a:tblGrid>
              <a:tr h="1716450">
                <a:tc>
                  <a:txBody>
                    <a:bodyPr/>
                    <a:lstStyle/>
                    <a:p>
                      <a:pPr marL="0" marR="0" algn="just">
                        <a:lnSpc>
                          <a:spcPct val="150000"/>
                        </a:lnSpc>
                        <a:spcAft>
                          <a:spcPts val="800"/>
                        </a:spcAft>
                        <a:buNone/>
                      </a:pPr>
                      <a:r>
                        <a:rPr lang="en-US" sz="1200" kern="100">
                          <a:effectLst/>
                        </a:rPr>
                        <a:t>F</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200" kern="100">
                          <a:effectLst/>
                        </a:rPr>
                        <a:t>AI Evaluation Microservice Engineering &amp; SMS Gateway Integration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200" kern="100">
                          <a:effectLst/>
                        </a:rPr>
                        <a:t>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200" kern="100">
                          <a:effectLst/>
                        </a:rPr>
                        <a:t>D,E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4534305"/>
                  </a:ext>
                </a:extLst>
              </a:tr>
              <a:tr h="2156931">
                <a:tc>
                  <a:txBody>
                    <a:bodyPr/>
                    <a:lstStyle/>
                    <a:p>
                      <a:pPr marL="0" marR="0" algn="just">
                        <a:lnSpc>
                          <a:spcPct val="150000"/>
                        </a:lnSpc>
                        <a:spcAft>
                          <a:spcPts val="800"/>
                        </a:spcAft>
                        <a:buNone/>
                      </a:pPr>
                      <a:r>
                        <a:rPr lang="en-US" sz="1200" kern="100">
                          <a:effectLst/>
                        </a:rPr>
                        <a:t>G</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200" kern="100">
                          <a:effectLst/>
                        </a:rPr>
                        <a:t>Comprehensive End-to-End System Testing under Simulated Low-Bandwidth Network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200" kern="100">
                          <a:effectLst/>
                        </a:rPr>
                        <a:t>14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200" kern="100">
                          <a:effectLst/>
                        </a:rPr>
                        <a:t>F</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86621984"/>
                  </a:ext>
                </a:extLst>
              </a:tr>
              <a:tr h="2156931">
                <a:tc>
                  <a:txBody>
                    <a:bodyPr/>
                    <a:lstStyle/>
                    <a:p>
                      <a:pPr marL="0" marR="0" algn="just">
                        <a:lnSpc>
                          <a:spcPct val="150000"/>
                        </a:lnSpc>
                        <a:spcAft>
                          <a:spcPts val="800"/>
                        </a:spcAft>
                        <a:buNone/>
                      </a:pPr>
                      <a:r>
                        <a:rPr lang="en-US" sz="1200" kern="100">
                          <a:effectLst/>
                        </a:rPr>
                        <a:t>H</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200" kern="100">
                          <a:effectLst/>
                        </a:rPr>
                        <a:t>Comprehensive End-to-End System Testing under Simulated Low-Bandwidth Network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200" kern="100">
                          <a:effectLst/>
                        </a:rPr>
                        <a:t>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800"/>
                        </a:spcAft>
                        <a:buNone/>
                      </a:pPr>
                      <a:r>
                        <a:rPr lang="en-US" sz="1200" kern="100" dirty="0">
                          <a:effectLst/>
                        </a:rPr>
                        <a:t>G</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4253438"/>
                  </a:ext>
                </a:extLst>
              </a:tr>
            </a:tbl>
          </a:graphicData>
        </a:graphic>
      </p:graphicFrame>
    </p:spTree>
    <p:extLst>
      <p:ext uri="{BB962C8B-B14F-4D97-AF65-F5344CB8AC3E}">
        <p14:creationId xmlns:p14="http://schemas.microsoft.com/office/powerpoint/2010/main" val="2467795990"/>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3BECE-DA04-C7E2-DD19-2F458B4CDB92}"/>
            </a:ext>
          </a:extLst>
        </p:cNvPr>
        <p:cNvGrpSpPr/>
        <p:nvPr/>
      </p:nvGrpSpPr>
      <p:grpSpPr>
        <a:xfrm>
          <a:off x="0" y="0"/>
          <a:ext cx="0" cy="0"/>
          <a:chOff x="0" y="0"/>
          <a:chExt cx="0" cy="0"/>
        </a:xfrm>
      </p:grpSpPr>
      <p:pic>
        <p:nvPicPr>
          <p:cNvPr id="3074" name="Picture 1">
            <a:extLst>
              <a:ext uri="{FF2B5EF4-FFF2-40B4-BE49-F238E27FC236}">
                <a16:creationId xmlns:a16="http://schemas.microsoft.com/office/drawing/2014/main" id="{DBF339F7-6305-AB28-9FEE-3E37B4C9EA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57200"/>
            <a:ext cx="5935663" cy="2811463"/>
          </a:xfrm>
          <a:prstGeom prst="rect">
            <a:avLst/>
          </a:prstGeom>
          <a:noFill/>
          <a:extLst>
            <a:ext uri="{909E8E84-426E-40DD-AFC4-6F175D3DCCD1}">
              <a14:hiddenFill xmlns:a14="http://schemas.microsoft.com/office/drawing/2010/main">
                <a:solidFill>
                  <a:srgbClr val="FFFFFF"/>
                </a:solidFill>
              </a14:hiddenFill>
            </a:ext>
          </a:extLst>
        </p:spPr>
      </p:pic>
      <p:pic>
        <p:nvPicPr>
          <p:cNvPr id="3073" name="Picture 2">
            <a:extLst>
              <a:ext uri="{FF2B5EF4-FFF2-40B4-BE49-F238E27FC236}">
                <a16:creationId xmlns:a16="http://schemas.microsoft.com/office/drawing/2014/main" id="{B699E09C-183E-3206-07F4-0FC6A049A4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3077" t="45584" r="13718" b="32535"/>
          <a:stretch>
            <a:fillRect/>
          </a:stretch>
        </p:blipFill>
        <p:spPr bwMode="auto">
          <a:xfrm>
            <a:off x="0" y="3725863"/>
            <a:ext cx="6384925" cy="332263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E566B22E-7978-CD16-95E9-297B8DAB7D6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   5.2 Network Analysis AND NETWORK DIAGRAM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7201DE50-AB9D-A13F-6061-F04E37CF6FDA}"/>
              </a:ext>
            </a:extLst>
          </p:cNvPr>
          <p:cNvSpPr>
            <a:spLocks noChangeArrowheads="1"/>
          </p:cNvSpPr>
          <p:nvPr/>
        </p:nvSpPr>
        <p:spPr bwMode="auto">
          <a:xfrm>
            <a:off x="0" y="35242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    </a:t>
            </a:r>
            <a:r>
              <a:rPr kumimoji="0" lang="en-US" altLang="en-US" sz="1200" b="1" i="0" u="none" strike="noStrike" cap="none" normalizeH="0" baseline="0" dirty="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5.3 GANTT DIAGRAM</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F72F008B-8379-BAE3-2976-C0B137AE726A}"/>
              </a:ext>
            </a:extLst>
          </p:cNvPr>
          <p:cNvSpPr>
            <a:spLocks noChangeArrowheads="1"/>
          </p:cNvSpPr>
          <p:nvPr/>
        </p:nvSpPr>
        <p:spPr bwMode="auto">
          <a:xfrm>
            <a:off x="0" y="70485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810865580"/>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687F6-78D7-BA47-3D84-4DEB8E41C07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1025099-4FB3-241F-CDD9-B0D4ECBDA20E}"/>
              </a:ext>
            </a:extLst>
          </p:cNvPr>
          <p:cNvSpPr>
            <a:spLocks noChangeArrowheads="1"/>
          </p:cNvSpPr>
          <p:nvPr/>
        </p:nvSpPr>
        <p:spPr bwMode="auto">
          <a:xfrm>
            <a:off x="0" y="70485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1">
            <a:extLst>
              <a:ext uri="{FF2B5EF4-FFF2-40B4-BE49-F238E27FC236}">
                <a16:creationId xmlns:a16="http://schemas.microsoft.com/office/drawing/2014/main" id="{A8BE42D4-A8CB-CBAE-E496-5EFEC516B259}"/>
              </a:ext>
            </a:extLst>
          </p:cNvPr>
          <p:cNvSpPr>
            <a:spLocks noChangeArrowheads="1"/>
          </p:cNvSpPr>
          <p:nvPr/>
        </p:nvSpPr>
        <p:spPr bwMode="auto">
          <a:xfrm>
            <a:off x="453249" y="302359"/>
            <a:ext cx="10843401"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effectLst>
                  <a:outerShdw blurRad="38100" dist="38100" dir="2700000" algn="tl">
                    <a:srgbClr val="000000">
                      <a:alpha val="43137"/>
                    </a:srgbClr>
                  </a:outerShdw>
                </a:effectLst>
              </a:rPr>
              <a:t>6. UN SUSTAINABLE DEVELOPMENT GOAL ALIGNMENT</a:t>
            </a:r>
          </a:p>
          <a:p>
            <a:r>
              <a:rPr lang="en-US" sz="2400" b="1" dirty="0">
                <a:effectLst>
                  <a:outerShdw blurRad="38100" dist="38100" dir="2700000" algn="tl">
                    <a:srgbClr val="000000">
                      <a:alpha val="43137"/>
                    </a:srgbClr>
                  </a:outerShdw>
                </a:effectLst>
              </a:rPr>
              <a:t>The development parameters map directly into the indicators specified under SDG 4 (Quality Education): </a:t>
            </a:r>
          </a:p>
          <a:p>
            <a:r>
              <a:rPr lang="en-US" sz="2400" b="1" dirty="0">
                <a:effectLst>
                  <a:outerShdw blurRad="38100" dist="38100" dir="2700000" algn="tl">
                    <a:srgbClr val="000000">
                      <a:alpha val="43137"/>
                    </a:srgbClr>
                  </a:outerShdw>
                </a:effectLst>
              </a:rPr>
              <a:t>• Target 4.1 (Free, Equitable, and Quality Primary/Secondary Education): EDU Core removes financial barriers by providing zero-cost digital content and offline operational modes, leveling the playing field for students without steady internet access</a:t>
            </a:r>
          </a:p>
          <a:p>
            <a:r>
              <a:rPr lang="en-US" sz="2400" b="1" dirty="0">
                <a:effectLst>
                  <a:outerShdw blurRad="38100" dist="38100" dir="2700000" algn="tl">
                    <a:srgbClr val="000000">
                      <a:alpha val="43137"/>
                    </a:srgbClr>
                  </a:outerShdw>
                </a:effectLst>
              </a:rPr>
              <a:t> </a:t>
            </a:r>
          </a:p>
          <a:p>
            <a:r>
              <a:rPr lang="en-US" sz="2400" b="1" dirty="0">
                <a:effectLst>
                  <a:outerShdw blurRad="38100" dist="38100" dir="2700000" algn="tl">
                    <a:srgbClr val="000000">
                      <a:alpha val="43137"/>
                    </a:srgbClr>
                  </a:outerShdw>
                </a:effectLst>
              </a:rPr>
              <a:t>7.OPENSOURCE LICENSING FRAMEWORK SELECTION</a:t>
            </a:r>
          </a:p>
          <a:p>
            <a:r>
              <a:rPr lang="en-US" sz="2400" b="1" dirty="0">
                <a:effectLst>
                  <a:outerShdw blurRad="38100" dist="38100" dir="2700000" algn="tl">
                    <a:srgbClr val="000000">
                      <a:alpha val="43137"/>
                    </a:srgbClr>
                  </a:outerShdw>
                </a:effectLst>
              </a:rPr>
              <a:t>To comply with the structural criteria defining a Digital Public Good (DPG), EDU Core is released under the MIT License. This permissive licensing choice guarantees that any educational institution, regional municipality, or non-profit organization can freely clone, adapt, modify, and distribute localized instances of the application without licensing fees. This approach encourages regional ecosystem customization across developing markets.</a:t>
            </a:r>
          </a:p>
          <a:p>
            <a:r>
              <a:rPr lang="en-US" sz="2400" b="1" dirty="0">
                <a:effectLst>
                  <a:outerShdw blurRad="38100" dist="38100" dir="2700000" algn="tl">
                    <a:srgbClr val="000000">
                      <a:alpha val="43137"/>
                    </a:srgbClr>
                  </a:outerShdw>
                </a:effectLst>
              </a:rPr>
              <a:t> </a:t>
            </a:r>
          </a:p>
          <a:p>
            <a:pPr lvl="0" algn="just" eaLnBrk="0" fontAlgn="base" hangingPunct="0">
              <a:spcBef>
                <a:spcPct val="0"/>
              </a:spcBef>
              <a:spcAft>
                <a:spcPct val="0"/>
              </a:spcAft>
            </a:pPr>
            <a:endParaRPr lang="en-US" altLang="en-US" sz="3600" dirty="0">
              <a:effectLst>
                <a:outerShdw blurRad="38100" dist="38100" dir="2700000" algn="tl">
                  <a:srgbClr val="000000">
                    <a:alpha val="43137"/>
                  </a:srgbClr>
                </a:outerShdw>
              </a:effectLst>
              <a:latin typeface="Arial" panose="020B0604020202020204" pitchFamily="34" charset="0"/>
            </a:endParaRPr>
          </a:p>
        </p:txBody>
      </p:sp>
    </p:spTree>
    <p:extLst>
      <p:ext uri="{BB962C8B-B14F-4D97-AF65-F5344CB8AC3E}">
        <p14:creationId xmlns:p14="http://schemas.microsoft.com/office/powerpoint/2010/main" val="13248572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FE690-A81F-9A84-D423-CB09B5EAFD0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47AF9A0-A89F-318C-D182-7FACB58FC7F2}"/>
              </a:ext>
            </a:extLst>
          </p:cNvPr>
          <p:cNvSpPr>
            <a:spLocks noChangeArrowheads="1"/>
          </p:cNvSpPr>
          <p:nvPr/>
        </p:nvSpPr>
        <p:spPr bwMode="auto">
          <a:xfrm>
            <a:off x="0" y="70485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1">
            <a:extLst>
              <a:ext uri="{FF2B5EF4-FFF2-40B4-BE49-F238E27FC236}">
                <a16:creationId xmlns:a16="http://schemas.microsoft.com/office/drawing/2014/main" id="{A6FD725A-9BE9-87EF-3F30-0A19ED05FE9C}"/>
              </a:ext>
            </a:extLst>
          </p:cNvPr>
          <p:cNvSpPr>
            <a:spLocks noChangeArrowheads="1"/>
          </p:cNvSpPr>
          <p:nvPr/>
        </p:nvSpPr>
        <p:spPr bwMode="auto">
          <a:xfrm>
            <a:off x="453249" y="3257014"/>
            <a:ext cx="419495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altLang="en-US" sz="3600" b="1" dirty="0">
                <a:effectLst>
                  <a:outerShdw blurRad="38100" dist="38100" dir="2700000" algn="tl">
                    <a:srgbClr val="000000">
                      <a:alpha val="43137"/>
                    </a:srgbClr>
                  </a:outerShdw>
                </a:effectLst>
                <a:latin typeface="Arial" panose="020B0604020202020204" pitchFamily="34" charset="0"/>
              </a:rPr>
              <a:t>CONCLUSION</a:t>
            </a:r>
          </a:p>
        </p:txBody>
      </p:sp>
      <p:sp>
        <p:nvSpPr>
          <p:cNvPr id="4" name="TextBox 3">
            <a:extLst>
              <a:ext uri="{FF2B5EF4-FFF2-40B4-BE49-F238E27FC236}">
                <a16:creationId xmlns:a16="http://schemas.microsoft.com/office/drawing/2014/main" id="{62E2B89B-EAE8-ADBE-CC6C-68D48700925A}"/>
              </a:ext>
            </a:extLst>
          </p:cNvPr>
          <p:cNvSpPr txBox="1"/>
          <p:nvPr/>
        </p:nvSpPr>
        <p:spPr>
          <a:xfrm>
            <a:off x="4495801" y="948497"/>
            <a:ext cx="7242949" cy="4617033"/>
          </a:xfrm>
          <a:prstGeom prst="rect">
            <a:avLst/>
          </a:prstGeom>
          <a:noFill/>
        </p:spPr>
        <p:txBody>
          <a:bodyPr wrap="square">
            <a:spAutoFit/>
          </a:bodyPr>
          <a:lstStyle/>
          <a:p>
            <a:pPr marL="0" marR="0" algn="just">
              <a:lnSpc>
                <a:spcPct val="150000"/>
              </a:lnSpc>
              <a:spcAft>
                <a:spcPts val="800"/>
              </a:spcAft>
              <a:buNone/>
            </a:pPr>
            <a:r>
              <a:rPr lang="en-US" b="1" kern="100" dirty="0">
                <a:effectLst>
                  <a:outerShdw blurRad="38100" dist="38100" dir="2700000" algn="tl">
                    <a:srgbClr val="000000">
                      <a:alpha val="43137"/>
                    </a:srgbClr>
                  </a:outerShdw>
                </a:effectLst>
                <a:latin typeface="Tahoma" panose="020B0604030504040204" pitchFamily="34" charset="0"/>
                <a:ea typeface="Calibri" panose="020F0502020204030204" pitchFamily="34" charset="0"/>
                <a:cs typeface="Times New Roman" panose="02020603050405020304" pitchFamily="18" charset="0"/>
              </a:rPr>
              <a:t>The EDU Core platform provides a robust, production-ready software solution designed specifically for the unique educational infrastructure challenges in Sierra Leone. By integrating an offline-first mobile data architecture, automated local SQLite engines, targeted low-bandwidth SMS reporting metrics, and an open-source development model, the platform delivers an accessible technical architecture that successfully transforms educational delivery. This design sets a strong engineering standard for building effective Digital Public Goods that drive real-world societal impact.</a:t>
            </a:r>
            <a:endParaRPr lang="en-US" b="1" kern="1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99509317"/>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33B01-4A4D-D3B2-9A28-71B4A95FBC8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EA12FB4-C9DC-419C-7B05-2C333BF6B1CB}"/>
              </a:ext>
            </a:extLst>
          </p:cNvPr>
          <p:cNvSpPr>
            <a:spLocks noChangeArrowheads="1"/>
          </p:cNvSpPr>
          <p:nvPr/>
        </p:nvSpPr>
        <p:spPr bwMode="auto">
          <a:xfrm>
            <a:off x="0" y="70485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1">
            <a:extLst>
              <a:ext uri="{FF2B5EF4-FFF2-40B4-BE49-F238E27FC236}">
                <a16:creationId xmlns:a16="http://schemas.microsoft.com/office/drawing/2014/main" id="{70BAA8B3-46C1-1914-3ADB-0D9A032DEDFA}"/>
              </a:ext>
            </a:extLst>
          </p:cNvPr>
          <p:cNvSpPr>
            <a:spLocks noChangeArrowheads="1"/>
          </p:cNvSpPr>
          <p:nvPr/>
        </p:nvSpPr>
        <p:spPr bwMode="auto">
          <a:xfrm>
            <a:off x="4912924" y="3105834"/>
            <a:ext cx="236615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altLang="en-US" sz="3600" b="1" dirty="0">
                <a:effectLst>
                  <a:outerShdw blurRad="38100" dist="38100" dir="2700000" algn="tl">
                    <a:srgbClr val="000000">
                      <a:alpha val="43137"/>
                    </a:srgbClr>
                  </a:outerShdw>
                </a:effectLst>
                <a:latin typeface="Arial" panose="020B0604020202020204" pitchFamily="34" charset="0"/>
              </a:rPr>
              <a:t>THE END</a:t>
            </a:r>
          </a:p>
        </p:txBody>
      </p:sp>
    </p:spTree>
    <p:extLst>
      <p:ext uri="{BB962C8B-B14F-4D97-AF65-F5344CB8AC3E}">
        <p14:creationId xmlns:p14="http://schemas.microsoft.com/office/powerpoint/2010/main" val="2476236160"/>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TotalTime>
  <Words>2370</Words>
  <Application>Microsoft Office PowerPoint</Application>
  <PresentationFormat>Widescreen</PresentationFormat>
  <Paragraphs>135</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Tahoma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THE FIX</dc:creator>
  <cp:lastModifiedBy>THE FIX</cp:lastModifiedBy>
  <cp:revision>12</cp:revision>
  <dcterms:created xsi:type="dcterms:W3CDTF">2026-06-21T03:09:36Z</dcterms:created>
  <dcterms:modified xsi:type="dcterms:W3CDTF">2026-07-01T00:51:09Z</dcterms:modified>
</cp:coreProperties>
</file>